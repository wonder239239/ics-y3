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3.xml" ContentType="application/vnd.openxmlformats-officedocument.theme+xml"/>
  <Override PartName="/ppt/theme/theme4.xml" ContentType="application/vnd.openxmlformats-officedocument.theme+xml"/>
  <Override PartName="/ppt/tags/tag4.xml" ContentType="application/vnd.openxmlformats-officedocument.presentationml.tags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1" r:id="rId2"/>
  </p:sldMasterIdLst>
  <p:notesMasterIdLst>
    <p:notesMasterId r:id="rId4"/>
  </p:notesMasterIdLst>
  <p:handoutMasterIdLst>
    <p:handoutMasterId r:id="rId5"/>
  </p:handoutMasterIdLst>
  <p:sldIdLst>
    <p:sldId id="266" r:id="rId3"/>
  </p:sldIdLst>
  <p:sldSz cx="21420138" cy="30275213"/>
  <p:notesSz cx="7104063" cy="10234613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9552">
          <p15:clr>
            <a:srgbClr val="A4A3A4"/>
          </p15:clr>
        </p15:guide>
        <p15:guide id="2" pos="6746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ichael Mackey" initials="MM" lastIdx="1" clrIdx="0"/>
  <p:cmAuthor id="2" name="作者" initials="A" lastIdx="0" clrIdx="1"/>
  <p:cmAuthor id="3" name="Author" initials="A" lastIdx="0" clrIdx="2"/>
  <p:cmAuthor id="4" name="jennica" initials="j" lastIdx="1" clrIdx="3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40A5E"/>
    <a:srgbClr val="F0E5FC"/>
    <a:srgbClr val="E6C1FF"/>
    <a:srgbClr val="DDB9F4"/>
    <a:srgbClr val="3F264B"/>
    <a:srgbClr val="ECE1F1"/>
    <a:srgbClr val="955FB1"/>
    <a:srgbClr val="E49EFF"/>
    <a:srgbClr val="450C8D"/>
    <a:srgbClr val="8571A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997" autoAdjust="0"/>
    <p:restoredTop sz="86391"/>
  </p:normalViewPr>
  <p:slideViewPr>
    <p:cSldViewPr snapToGrid="0" showGuides="1">
      <p:cViewPr>
        <p:scale>
          <a:sx n="82" d="100"/>
          <a:sy n="82" d="100"/>
        </p:scale>
        <p:origin x="-2088" y="144"/>
      </p:cViewPr>
      <p:guideLst>
        <p:guide orient="horz" pos="9552"/>
        <p:guide pos="674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5" d="100"/>
        <a:sy n="105" d="100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commentAuthors" Target="commentAuthors.xml"/><Relationship Id="rId5" Type="http://schemas.openxmlformats.org/officeDocument/2006/relationships/handoutMaster" Target="handoutMasters/handoutMaster1.xml"/><Relationship Id="rId10" Type="http://schemas.openxmlformats.org/officeDocument/2006/relationships/tableStyles" Target="tableStyles.xml"/><Relationship Id="rId4" Type="http://schemas.openxmlformats.org/officeDocument/2006/relationships/notesMaster" Target="notesMasters/notesMaster1.xml"/><Relationship Id="rId9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lang="zh-CN" sz="186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Preferred Campus</a:t>
            </a:r>
            <a:r>
              <a:rPr lang="zh-CN" altLang="en-US" dirty="0"/>
              <a:t> </a:t>
            </a:r>
            <a:r>
              <a:rPr lang="en-US" dirty="0"/>
              <a:t>Tour Guide Format</a:t>
            </a:r>
            <a:endParaRPr lang="zh-CN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zh-CN" sz="186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title>
    <c:autoTitleDeleted val="0"/>
    <c:plotArea>
      <c:layout>
        <c:manualLayout>
          <c:layoutTarget val="inner"/>
          <c:xMode val="edge"/>
          <c:yMode val="edge"/>
          <c:x val="0.44073567203048097"/>
          <c:y val="0.15520808092135999"/>
          <c:w val="0.52180635176819901"/>
          <c:h val="0.66262988696997804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spPr>
            <a:solidFill>
              <a:srgbClr val="E49EFF">
                <a:alpha val="3392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3D/VR panoramic tours or real-scene photos</c:v>
                </c:pt>
                <c:pt idx="1">
                  <c:v>Pre-recorded audio/video guides (click to listen)</c:v>
                </c:pt>
                <c:pt idx="2">
                  <c:v>Smart Q&amp;A robot (AI Customer Service)</c:v>
                </c:pt>
                <c:pt idx="3">
                  <c:v>Clear text &amp; image introductions and data charts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26</c:v>
                </c:pt>
                <c:pt idx="1">
                  <c:v>10</c:v>
                </c:pt>
                <c:pt idx="2">
                  <c:v>8</c:v>
                </c:pt>
                <c:pt idx="3">
                  <c:v>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708-3144-8E55-1750A53A059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Percentage (%)</c:v>
                </c:pt>
              </c:strCache>
            </c:strRef>
          </c:tx>
          <c:spPr>
            <a:solidFill>
              <a:srgbClr val="E49EFF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3D/VR panoramic tours or real-scene photos</c:v>
                </c:pt>
                <c:pt idx="1">
                  <c:v>Pre-recorded audio/video guides (click to listen)</c:v>
                </c:pt>
                <c:pt idx="2">
                  <c:v>Smart Q&amp;A robot (AI Customer Service)</c:v>
                </c:pt>
                <c:pt idx="3">
                  <c:v>Clear text &amp; image introductions and data charts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50.98</c:v>
                </c:pt>
                <c:pt idx="1">
                  <c:v>19.61</c:v>
                </c:pt>
                <c:pt idx="2">
                  <c:v>15.69</c:v>
                </c:pt>
                <c:pt idx="3">
                  <c:v>13.73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708-3144-8E55-1750A53A059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1777454479"/>
        <c:axId val="1777455919"/>
      </c:barChart>
      <c:catAx>
        <c:axId val="1777454479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777455919"/>
        <c:crosses val="autoZero"/>
        <c:auto val="1"/>
        <c:lblAlgn val="ctr"/>
        <c:lblOffset val="100"/>
        <c:noMultiLvlLbl val="0"/>
      </c:catAx>
      <c:valAx>
        <c:axId val="1777455919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77745447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zh-CN" sz="1195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showDLblsOverMax val="0"/>
  </c:chart>
  <c:spPr>
    <a:solidFill>
      <a:schemeClr val="tx2"/>
    </a:solidFill>
    <a:ln>
      <a:noFill/>
    </a:ln>
    <a:effectLst/>
  </c:spPr>
  <c:txPr>
    <a:bodyPr/>
    <a:lstStyle/>
    <a:p>
      <a:pPr>
        <a:defRPr lang="zh-CN"/>
      </a:pPr>
      <a:endParaRPr lang="zh-CN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  <a:t>2026/4/23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  <a:t>2026/4/23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2330847" y="1279525"/>
            <a:ext cx="2443957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2330450" y="1279525"/>
            <a:ext cx="2444750" cy="3454400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>
          <a:xfrm>
            <a:off x="7286057" y="28156980"/>
            <a:ext cx="6857463" cy="1513818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>
          <a:xfrm>
            <a:off x="1071479" y="28156980"/>
            <a:ext cx="4928801" cy="1513818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t>4/23/26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>
          <a:xfrm>
            <a:off x="15429290" y="28156980"/>
            <a:ext cx="4928801" cy="1513818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 lang="en-US" altLang="zh-CN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en-US" altLang="zh-CN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>
          <a:xfrm>
            <a:off x="7286057" y="28156980"/>
            <a:ext cx="6857463" cy="1513818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>
          <a:xfrm>
            <a:off x="1071479" y="28156980"/>
            <a:ext cx="4928801" cy="1513818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t>4/23/26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>
          <a:xfrm>
            <a:off x="15429290" y="28156980"/>
            <a:ext cx="4928801" cy="1513818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 lang="en-US" altLang="zh-CN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en-US" altLang="zh-CN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>
          <a:xfrm>
            <a:off x="3258577" y="28586202"/>
            <a:ext cx="1317667" cy="29137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  <a:t>2026/4/23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>
          <a:xfrm>
            <a:off x="9743710" y="28586202"/>
            <a:ext cx="1932578" cy="29137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>
          <a:xfrm>
            <a:off x="16840841" y="28586202"/>
            <a:ext cx="1317667" cy="29137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2141855" rtl="0" eaLnBrk="1" latinLnBrk="0" hangingPunct="1">
        <a:lnSpc>
          <a:spcPct val="90000"/>
        </a:lnSpc>
        <a:spcBef>
          <a:spcPct val="0"/>
        </a:spcBef>
        <a:buNone/>
        <a:defRPr sz="1031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</p:titleStyle>
    <p:bodyStyle>
      <a:lvl1pPr marL="535305" indent="-535305" algn="l" defTabSz="2141855" rtl="0" eaLnBrk="1" latinLnBrk="0" hangingPunct="1">
        <a:lnSpc>
          <a:spcPct val="90000"/>
        </a:lnSpc>
        <a:spcBef>
          <a:spcPts val="2345"/>
        </a:spcBef>
        <a:buFont typeface="Arial" panose="020B0604020202020204" pitchFamily="34" charset="0"/>
        <a:buChar char="•"/>
        <a:defRPr sz="656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1606550" indent="-535305" algn="l" defTabSz="2141855" rtl="0" eaLnBrk="1" latinLnBrk="0" hangingPunct="1">
        <a:lnSpc>
          <a:spcPct val="90000"/>
        </a:lnSpc>
        <a:spcBef>
          <a:spcPct val="235000"/>
        </a:spcBef>
        <a:buFont typeface="Arial" panose="020B0604020202020204" pitchFamily="34" charset="0"/>
        <a:buChar char="•"/>
        <a:defRPr sz="562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2677795" indent="-535305" algn="l" defTabSz="2141855" rtl="0" eaLnBrk="1" latinLnBrk="0" hangingPunct="1">
        <a:lnSpc>
          <a:spcPct val="90000"/>
        </a:lnSpc>
        <a:spcBef>
          <a:spcPct val="235000"/>
        </a:spcBef>
        <a:buFont typeface="Arial" panose="020B0604020202020204" pitchFamily="34" charset="0"/>
        <a:buChar char="•"/>
        <a:defRPr sz="4685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3748405" indent="-535305" algn="l" defTabSz="2141855" rtl="0" eaLnBrk="1" latinLnBrk="0" hangingPunct="1">
        <a:lnSpc>
          <a:spcPct val="90000"/>
        </a:lnSpc>
        <a:spcBef>
          <a:spcPct val="235000"/>
        </a:spcBef>
        <a:buFont typeface="Arial" panose="020B0604020202020204" pitchFamily="34" charset="0"/>
        <a:buChar char="•"/>
        <a:defRPr sz="4215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4819650" indent="-535305" algn="l" defTabSz="2141855" rtl="0" eaLnBrk="1" latinLnBrk="0" hangingPunct="1">
        <a:lnSpc>
          <a:spcPct val="90000"/>
        </a:lnSpc>
        <a:spcBef>
          <a:spcPct val="235000"/>
        </a:spcBef>
        <a:buFont typeface="Arial" panose="020B0604020202020204" pitchFamily="34" charset="0"/>
        <a:buChar char="•"/>
        <a:defRPr sz="4215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5890895" indent="-535305" algn="l" defTabSz="2141855" rtl="0" eaLnBrk="1" latinLnBrk="0" hangingPunct="1">
        <a:lnSpc>
          <a:spcPct val="90000"/>
        </a:lnSpc>
        <a:spcBef>
          <a:spcPct val="235000"/>
        </a:spcBef>
        <a:buFont typeface="Arial" panose="020B0604020202020204" pitchFamily="34" charset="0"/>
        <a:buChar char="•"/>
        <a:defRPr sz="4215" kern="1200">
          <a:solidFill>
            <a:schemeClr val="tx1"/>
          </a:solidFill>
          <a:latin typeface="+mn-lt"/>
          <a:ea typeface="+mn-ea"/>
          <a:cs typeface="+mn-cs"/>
        </a:defRPr>
      </a:lvl6pPr>
      <a:lvl7pPr marL="6961505" indent="-535305" algn="l" defTabSz="2141855" rtl="0" eaLnBrk="1" latinLnBrk="0" hangingPunct="1">
        <a:lnSpc>
          <a:spcPct val="90000"/>
        </a:lnSpc>
        <a:spcBef>
          <a:spcPct val="235000"/>
        </a:spcBef>
        <a:buFont typeface="Arial" panose="020B0604020202020204" pitchFamily="34" charset="0"/>
        <a:buChar char="•"/>
        <a:defRPr sz="4215" kern="1200">
          <a:solidFill>
            <a:schemeClr val="tx1"/>
          </a:solidFill>
          <a:latin typeface="+mn-lt"/>
          <a:ea typeface="+mn-ea"/>
          <a:cs typeface="+mn-cs"/>
        </a:defRPr>
      </a:lvl7pPr>
      <a:lvl8pPr marL="8032750" indent="-535305" algn="l" defTabSz="2141855" rtl="0" eaLnBrk="1" latinLnBrk="0" hangingPunct="1">
        <a:lnSpc>
          <a:spcPct val="90000"/>
        </a:lnSpc>
        <a:spcBef>
          <a:spcPct val="235000"/>
        </a:spcBef>
        <a:buFont typeface="Arial" panose="020B0604020202020204" pitchFamily="34" charset="0"/>
        <a:buChar char="•"/>
        <a:defRPr sz="4215" kern="1200">
          <a:solidFill>
            <a:schemeClr val="tx1"/>
          </a:solidFill>
          <a:latin typeface="+mn-lt"/>
          <a:ea typeface="+mn-ea"/>
          <a:cs typeface="+mn-cs"/>
        </a:defRPr>
      </a:lvl8pPr>
      <a:lvl9pPr marL="9103360" indent="-535305" algn="l" defTabSz="2141855" rtl="0" eaLnBrk="1" latinLnBrk="0" hangingPunct="1">
        <a:lnSpc>
          <a:spcPct val="90000"/>
        </a:lnSpc>
        <a:spcBef>
          <a:spcPct val="235000"/>
        </a:spcBef>
        <a:buFont typeface="Arial" panose="020B0604020202020204" pitchFamily="34" charset="0"/>
        <a:buChar char="•"/>
        <a:defRPr sz="421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2141855" rtl="0" eaLnBrk="1" latinLnBrk="0" hangingPunct="1">
        <a:defRPr sz="4215" kern="1200">
          <a:solidFill>
            <a:schemeClr val="tx1"/>
          </a:solidFill>
          <a:latin typeface="+mn-lt"/>
          <a:ea typeface="+mn-ea"/>
          <a:cs typeface="+mn-cs"/>
        </a:defRPr>
      </a:lvl1pPr>
      <a:lvl2pPr marL="1071245" algn="l" defTabSz="2141855" rtl="0" eaLnBrk="1" latinLnBrk="0" hangingPunct="1">
        <a:defRPr sz="4215" kern="1200">
          <a:solidFill>
            <a:schemeClr val="tx1"/>
          </a:solidFill>
          <a:latin typeface="+mn-lt"/>
          <a:ea typeface="+mn-ea"/>
          <a:cs typeface="+mn-cs"/>
        </a:defRPr>
      </a:lvl2pPr>
      <a:lvl3pPr marL="2141855" algn="l" defTabSz="2141855" rtl="0" eaLnBrk="1" latinLnBrk="0" hangingPunct="1">
        <a:defRPr sz="4215" kern="1200">
          <a:solidFill>
            <a:schemeClr val="tx1"/>
          </a:solidFill>
          <a:latin typeface="+mn-lt"/>
          <a:ea typeface="+mn-ea"/>
          <a:cs typeface="+mn-cs"/>
        </a:defRPr>
      </a:lvl3pPr>
      <a:lvl4pPr marL="3213100" algn="l" defTabSz="2141855" rtl="0" eaLnBrk="1" latinLnBrk="0" hangingPunct="1">
        <a:defRPr sz="4215" kern="1200">
          <a:solidFill>
            <a:schemeClr val="tx1"/>
          </a:solidFill>
          <a:latin typeface="+mn-lt"/>
          <a:ea typeface="+mn-ea"/>
          <a:cs typeface="+mn-cs"/>
        </a:defRPr>
      </a:lvl4pPr>
      <a:lvl5pPr marL="4284345" algn="l" defTabSz="2141855" rtl="0" eaLnBrk="1" latinLnBrk="0" hangingPunct="1">
        <a:defRPr sz="4215" kern="1200">
          <a:solidFill>
            <a:schemeClr val="tx1"/>
          </a:solidFill>
          <a:latin typeface="+mn-lt"/>
          <a:ea typeface="+mn-ea"/>
          <a:cs typeface="+mn-cs"/>
        </a:defRPr>
      </a:lvl5pPr>
      <a:lvl6pPr marL="5354955" algn="l" defTabSz="2141855" rtl="0" eaLnBrk="1" latinLnBrk="0" hangingPunct="1">
        <a:defRPr sz="4215" kern="1200">
          <a:solidFill>
            <a:schemeClr val="tx1"/>
          </a:solidFill>
          <a:latin typeface="+mn-lt"/>
          <a:ea typeface="+mn-ea"/>
          <a:cs typeface="+mn-cs"/>
        </a:defRPr>
      </a:lvl6pPr>
      <a:lvl7pPr marL="6426200" algn="l" defTabSz="2141855" rtl="0" eaLnBrk="1" latinLnBrk="0" hangingPunct="1">
        <a:defRPr sz="4215" kern="1200">
          <a:solidFill>
            <a:schemeClr val="tx1"/>
          </a:solidFill>
          <a:latin typeface="+mn-lt"/>
          <a:ea typeface="+mn-ea"/>
          <a:cs typeface="+mn-cs"/>
        </a:defRPr>
      </a:lvl7pPr>
      <a:lvl8pPr marL="7497445" algn="l" defTabSz="2141855" rtl="0" eaLnBrk="1" latinLnBrk="0" hangingPunct="1">
        <a:defRPr sz="4215" kern="1200">
          <a:solidFill>
            <a:schemeClr val="tx1"/>
          </a:solidFill>
          <a:latin typeface="+mn-lt"/>
          <a:ea typeface="+mn-ea"/>
          <a:cs typeface="+mn-cs"/>
        </a:defRPr>
      </a:lvl8pPr>
      <a:lvl9pPr marL="8568055" algn="l" defTabSz="2141855" rtl="0" eaLnBrk="1" latinLnBrk="0" hangingPunct="1">
        <a:defRPr sz="421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</p:sldLayoutIdLst>
  <p:txStyles>
    <p:titleStyle>
      <a:lvl1pPr algn="l" defTabSz="2141855" rtl="0" eaLnBrk="1" latinLnBrk="0" hangingPunct="1">
        <a:lnSpc>
          <a:spcPct val="90000"/>
        </a:lnSpc>
        <a:spcBef>
          <a:spcPct val="0"/>
        </a:spcBef>
        <a:buNone/>
        <a:defRPr sz="1031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</p:titleStyle>
    <p:bodyStyle>
      <a:lvl1pPr marL="535305" indent="-535305" algn="l" defTabSz="2141855" rtl="0" eaLnBrk="1" latinLnBrk="0" hangingPunct="1">
        <a:lnSpc>
          <a:spcPct val="90000"/>
        </a:lnSpc>
        <a:spcBef>
          <a:spcPts val="2345"/>
        </a:spcBef>
        <a:buFont typeface="Arial" panose="020B0604020202020204" pitchFamily="34" charset="0"/>
        <a:buChar char="•"/>
        <a:defRPr sz="656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1606550" indent="-535305" algn="l" defTabSz="2141855" rtl="0" eaLnBrk="1" latinLnBrk="0" hangingPunct="1">
        <a:lnSpc>
          <a:spcPct val="90000"/>
        </a:lnSpc>
        <a:spcBef>
          <a:spcPct val="235000"/>
        </a:spcBef>
        <a:buFont typeface="Arial" panose="020B0604020202020204" pitchFamily="34" charset="0"/>
        <a:buChar char="•"/>
        <a:defRPr sz="562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2677795" indent="-535305" algn="l" defTabSz="2141855" rtl="0" eaLnBrk="1" latinLnBrk="0" hangingPunct="1">
        <a:lnSpc>
          <a:spcPct val="90000"/>
        </a:lnSpc>
        <a:spcBef>
          <a:spcPct val="235000"/>
        </a:spcBef>
        <a:buFont typeface="Arial" panose="020B0604020202020204" pitchFamily="34" charset="0"/>
        <a:buChar char="•"/>
        <a:defRPr sz="4685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3748405" indent="-535305" algn="l" defTabSz="2141855" rtl="0" eaLnBrk="1" latinLnBrk="0" hangingPunct="1">
        <a:lnSpc>
          <a:spcPct val="90000"/>
        </a:lnSpc>
        <a:spcBef>
          <a:spcPct val="235000"/>
        </a:spcBef>
        <a:buFont typeface="Arial" panose="020B0604020202020204" pitchFamily="34" charset="0"/>
        <a:buChar char="•"/>
        <a:defRPr sz="4215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4819650" indent="-535305" algn="l" defTabSz="2141855" rtl="0" eaLnBrk="1" latinLnBrk="0" hangingPunct="1">
        <a:lnSpc>
          <a:spcPct val="90000"/>
        </a:lnSpc>
        <a:spcBef>
          <a:spcPct val="235000"/>
        </a:spcBef>
        <a:buFont typeface="Arial" panose="020B0604020202020204" pitchFamily="34" charset="0"/>
        <a:buChar char="•"/>
        <a:defRPr sz="4215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5890895" indent="-535305" algn="l" defTabSz="2141855" rtl="0" eaLnBrk="1" latinLnBrk="0" hangingPunct="1">
        <a:lnSpc>
          <a:spcPct val="90000"/>
        </a:lnSpc>
        <a:spcBef>
          <a:spcPct val="235000"/>
        </a:spcBef>
        <a:buFont typeface="Arial" panose="020B0604020202020204" pitchFamily="34" charset="0"/>
        <a:buChar char="•"/>
        <a:defRPr sz="4215" kern="1200">
          <a:solidFill>
            <a:schemeClr val="tx1"/>
          </a:solidFill>
          <a:latin typeface="+mn-lt"/>
          <a:ea typeface="+mn-ea"/>
          <a:cs typeface="+mn-cs"/>
        </a:defRPr>
      </a:lvl6pPr>
      <a:lvl7pPr marL="6961505" indent="-535305" algn="l" defTabSz="2141855" rtl="0" eaLnBrk="1" latinLnBrk="0" hangingPunct="1">
        <a:lnSpc>
          <a:spcPct val="90000"/>
        </a:lnSpc>
        <a:spcBef>
          <a:spcPct val="235000"/>
        </a:spcBef>
        <a:buFont typeface="Arial" panose="020B0604020202020204" pitchFamily="34" charset="0"/>
        <a:buChar char="•"/>
        <a:defRPr sz="4215" kern="1200">
          <a:solidFill>
            <a:schemeClr val="tx1"/>
          </a:solidFill>
          <a:latin typeface="+mn-lt"/>
          <a:ea typeface="+mn-ea"/>
          <a:cs typeface="+mn-cs"/>
        </a:defRPr>
      </a:lvl7pPr>
      <a:lvl8pPr marL="8032750" indent="-535305" algn="l" defTabSz="2141855" rtl="0" eaLnBrk="1" latinLnBrk="0" hangingPunct="1">
        <a:lnSpc>
          <a:spcPct val="90000"/>
        </a:lnSpc>
        <a:spcBef>
          <a:spcPct val="235000"/>
        </a:spcBef>
        <a:buFont typeface="Arial" panose="020B0604020202020204" pitchFamily="34" charset="0"/>
        <a:buChar char="•"/>
        <a:defRPr sz="4215" kern="1200">
          <a:solidFill>
            <a:schemeClr val="tx1"/>
          </a:solidFill>
          <a:latin typeface="+mn-lt"/>
          <a:ea typeface="+mn-ea"/>
          <a:cs typeface="+mn-cs"/>
        </a:defRPr>
      </a:lvl8pPr>
      <a:lvl9pPr marL="9103360" indent="-535305" algn="l" defTabSz="2141855" rtl="0" eaLnBrk="1" latinLnBrk="0" hangingPunct="1">
        <a:lnSpc>
          <a:spcPct val="90000"/>
        </a:lnSpc>
        <a:spcBef>
          <a:spcPct val="235000"/>
        </a:spcBef>
        <a:buFont typeface="Arial" panose="020B0604020202020204" pitchFamily="34" charset="0"/>
        <a:buChar char="•"/>
        <a:defRPr sz="421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2141855" rtl="0" eaLnBrk="1" latinLnBrk="0" hangingPunct="1">
        <a:defRPr sz="4215" kern="1200">
          <a:solidFill>
            <a:schemeClr val="tx1"/>
          </a:solidFill>
          <a:latin typeface="+mn-lt"/>
          <a:ea typeface="+mn-ea"/>
          <a:cs typeface="+mn-cs"/>
        </a:defRPr>
      </a:lvl1pPr>
      <a:lvl2pPr marL="1071245" algn="l" defTabSz="2141855" rtl="0" eaLnBrk="1" latinLnBrk="0" hangingPunct="1">
        <a:defRPr sz="4215" kern="1200">
          <a:solidFill>
            <a:schemeClr val="tx1"/>
          </a:solidFill>
          <a:latin typeface="+mn-lt"/>
          <a:ea typeface="+mn-ea"/>
          <a:cs typeface="+mn-cs"/>
        </a:defRPr>
      </a:lvl2pPr>
      <a:lvl3pPr marL="2141855" algn="l" defTabSz="2141855" rtl="0" eaLnBrk="1" latinLnBrk="0" hangingPunct="1">
        <a:defRPr sz="4215" kern="1200">
          <a:solidFill>
            <a:schemeClr val="tx1"/>
          </a:solidFill>
          <a:latin typeface="+mn-lt"/>
          <a:ea typeface="+mn-ea"/>
          <a:cs typeface="+mn-cs"/>
        </a:defRPr>
      </a:lvl3pPr>
      <a:lvl4pPr marL="3213100" algn="l" defTabSz="2141855" rtl="0" eaLnBrk="1" latinLnBrk="0" hangingPunct="1">
        <a:defRPr sz="4215" kern="1200">
          <a:solidFill>
            <a:schemeClr val="tx1"/>
          </a:solidFill>
          <a:latin typeface="+mn-lt"/>
          <a:ea typeface="+mn-ea"/>
          <a:cs typeface="+mn-cs"/>
        </a:defRPr>
      </a:lvl4pPr>
      <a:lvl5pPr marL="4284345" algn="l" defTabSz="2141855" rtl="0" eaLnBrk="1" latinLnBrk="0" hangingPunct="1">
        <a:defRPr sz="4215" kern="1200">
          <a:solidFill>
            <a:schemeClr val="tx1"/>
          </a:solidFill>
          <a:latin typeface="+mn-lt"/>
          <a:ea typeface="+mn-ea"/>
          <a:cs typeface="+mn-cs"/>
        </a:defRPr>
      </a:lvl5pPr>
      <a:lvl6pPr marL="5354955" algn="l" defTabSz="2141855" rtl="0" eaLnBrk="1" latinLnBrk="0" hangingPunct="1">
        <a:defRPr sz="4215" kern="1200">
          <a:solidFill>
            <a:schemeClr val="tx1"/>
          </a:solidFill>
          <a:latin typeface="+mn-lt"/>
          <a:ea typeface="+mn-ea"/>
          <a:cs typeface="+mn-cs"/>
        </a:defRPr>
      </a:lvl6pPr>
      <a:lvl7pPr marL="6426200" algn="l" defTabSz="2141855" rtl="0" eaLnBrk="1" latinLnBrk="0" hangingPunct="1">
        <a:defRPr sz="4215" kern="1200">
          <a:solidFill>
            <a:schemeClr val="tx1"/>
          </a:solidFill>
          <a:latin typeface="+mn-lt"/>
          <a:ea typeface="+mn-ea"/>
          <a:cs typeface="+mn-cs"/>
        </a:defRPr>
      </a:lvl7pPr>
      <a:lvl8pPr marL="7497445" algn="l" defTabSz="2141855" rtl="0" eaLnBrk="1" latinLnBrk="0" hangingPunct="1">
        <a:defRPr sz="4215" kern="1200">
          <a:solidFill>
            <a:schemeClr val="tx1"/>
          </a:solidFill>
          <a:latin typeface="+mn-lt"/>
          <a:ea typeface="+mn-ea"/>
          <a:cs typeface="+mn-cs"/>
        </a:defRPr>
      </a:lvl8pPr>
      <a:lvl9pPr marL="8568055" algn="l" defTabSz="2141855" rtl="0" eaLnBrk="1" latinLnBrk="0" hangingPunct="1">
        <a:defRPr sz="421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openxmlformats.org/officeDocument/2006/relationships/image" Target="../media/image9.png"/><Relationship Id="rId18" Type="http://schemas.openxmlformats.org/officeDocument/2006/relationships/image" Target="../media/image14.png"/><Relationship Id="rId3" Type="http://schemas.openxmlformats.org/officeDocument/2006/relationships/notesSlide" Target="../notesSlides/notesSlide1.xml"/><Relationship Id="rId7" Type="http://schemas.openxmlformats.org/officeDocument/2006/relationships/chart" Target="../charts/chart1.xml"/><Relationship Id="rId12" Type="http://schemas.openxmlformats.org/officeDocument/2006/relationships/image" Target="../media/image8.png"/><Relationship Id="rId17" Type="http://schemas.openxmlformats.org/officeDocument/2006/relationships/image" Target="../media/image13.jpeg"/><Relationship Id="rId2" Type="http://schemas.openxmlformats.org/officeDocument/2006/relationships/slideLayout" Target="../slideLayouts/slideLayout6.xml"/><Relationship Id="rId16" Type="http://schemas.openxmlformats.org/officeDocument/2006/relationships/image" Target="../media/image12.jpeg"/><Relationship Id="rId1" Type="http://schemas.openxmlformats.org/officeDocument/2006/relationships/tags" Target="../tags/tag4.xml"/><Relationship Id="rId6" Type="http://schemas.openxmlformats.org/officeDocument/2006/relationships/image" Target="../media/image3.png"/><Relationship Id="rId11" Type="http://schemas.openxmlformats.org/officeDocument/2006/relationships/image" Target="../media/image7.png"/><Relationship Id="rId5" Type="http://schemas.openxmlformats.org/officeDocument/2006/relationships/image" Target="../media/image2.png"/><Relationship Id="rId15" Type="http://schemas.openxmlformats.org/officeDocument/2006/relationships/image" Target="../media/image11.png"/><Relationship Id="rId10" Type="http://schemas.openxmlformats.org/officeDocument/2006/relationships/image" Target="../media/image6.png"/><Relationship Id="rId19" Type="http://schemas.openxmlformats.org/officeDocument/2006/relationships/image" Target="../media/image15.png"/><Relationship Id="rId4" Type="http://schemas.openxmlformats.org/officeDocument/2006/relationships/image" Target="../media/image1.png"/><Relationship Id="rId9" Type="http://schemas.openxmlformats.org/officeDocument/2006/relationships/image" Target="../media/image5.png"/><Relationship Id="rId1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文本框 58"/>
          <p:cNvSpPr txBox="1"/>
          <p:nvPr/>
        </p:nvSpPr>
        <p:spPr>
          <a:xfrm>
            <a:off x="7854813" y="26597929"/>
            <a:ext cx="6651625" cy="3600600"/>
          </a:xfrm>
          <a:prstGeom prst="rect">
            <a:avLst/>
          </a:prstGeom>
          <a:solidFill>
            <a:srgbClr val="ECE1F1"/>
          </a:solidFill>
        </p:spPr>
        <p:txBody>
          <a:bodyPr wrap="square" rtlCol="0" anchor="t">
            <a:noAutofit/>
          </a:bodyPr>
          <a:lstStyle/>
          <a:p>
            <a:pPr marL="0" lvl="0" indent="0" defTabSz="3600450" eaLnBrk="1" hangingPunct="1">
              <a:spcBef>
                <a:spcPct val="0"/>
              </a:spcBef>
              <a:buNone/>
            </a:pPr>
            <a:endParaRPr lang="en-US" altLang="zh-CN" sz="1400">
              <a:latin typeface="Tahoma" panose="020B0604030504040204" charset="0"/>
              <a:cs typeface="Tahoma" panose="020B0604030504040204" charset="0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7859395" y="3677285"/>
            <a:ext cx="13343890" cy="10233660"/>
          </a:xfrm>
          <a:prstGeom prst="rect">
            <a:avLst/>
          </a:prstGeom>
          <a:solidFill>
            <a:srgbClr val="ECE1F1"/>
          </a:solidFill>
        </p:spPr>
        <p:txBody>
          <a:bodyPr wrap="square" rtlCol="0" anchor="t">
            <a:noAutofit/>
          </a:bodyPr>
          <a:lstStyle/>
          <a:p>
            <a:pPr marL="0" lvl="0" indent="0" defTabSz="3600450" eaLnBrk="1" hangingPunct="1">
              <a:spcBef>
                <a:spcPct val="0"/>
              </a:spcBef>
              <a:buNone/>
            </a:pPr>
            <a:endParaRPr lang="en-US" altLang="zh-CN" sz="1400">
              <a:solidFill>
                <a:prstClr val="black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214211" y="3077591"/>
            <a:ext cx="6625444" cy="2688849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890"/>
          </a:p>
        </p:txBody>
      </p:sp>
      <p:sp>
        <p:nvSpPr>
          <p:cNvPr id="10" name="矩形 9"/>
          <p:cNvSpPr/>
          <p:nvPr/>
        </p:nvSpPr>
        <p:spPr>
          <a:xfrm>
            <a:off x="7857111" y="13910787"/>
            <a:ext cx="13344525" cy="12816840"/>
          </a:xfrm>
          <a:prstGeom prst="rect">
            <a:avLst/>
          </a:prstGeom>
          <a:solidFill>
            <a:srgbClr val="ECE1F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890" dirty="0"/>
          </a:p>
        </p:txBody>
      </p:sp>
      <p:sp>
        <p:nvSpPr>
          <p:cNvPr id="26" name="矩形 25"/>
          <p:cNvSpPr/>
          <p:nvPr/>
        </p:nvSpPr>
        <p:spPr>
          <a:xfrm>
            <a:off x="155575" y="3076575"/>
            <a:ext cx="7588885" cy="662305"/>
          </a:xfrm>
          <a:prstGeom prst="rect">
            <a:avLst/>
          </a:prstGeom>
          <a:solidFill>
            <a:srgbClr val="D0CAD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890"/>
          </a:p>
        </p:txBody>
      </p:sp>
      <p:sp>
        <p:nvSpPr>
          <p:cNvPr id="27" name="TextBox 27"/>
          <p:cNvSpPr txBox="1"/>
          <p:nvPr/>
        </p:nvSpPr>
        <p:spPr>
          <a:xfrm>
            <a:off x="2948930" y="3071566"/>
            <a:ext cx="4409729" cy="6356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7305">
              <a:spcBef>
                <a:spcPts val="195"/>
              </a:spcBef>
            </a:pPr>
            <a:r>
              <a:rPr lang="en-US" altLang="zh-CN" sz="3535" b="1" spc="-32" dirty="0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  <a:latin typeface="Times New Roman Bold" panose="02020603050405020304" charset="0"/>
                <a:ea typeface="微软雅黑" panose="020B0503020204020204" charset="-122"/>
                <a:cs typeface="Times New Roman Bold" panose="02020603050405020304" charset="0"/>
                <a:sym typeface="+mn-ea"/>
              </a:rPr>
              <a:t>Abstract</a:t>
            </a:r>
          </a:p>
        </p:txBody>
      </p:sp>
      <p:sp>
        <p:nvSpPr>
          <p:cNvPr id="28" name="矩形 27"/>
          <p:cNvSpPr/>
          <p:nvPr/>
        </p:nvSpPr>
        <p:spPr>
          <a:xfrm>
            <a:off x="7859395" y="3077210"/>
            <a:ext cx="13343890" cy="662305"/>
          </a:xfrm>
          <a:prstGeom prst="rect">
            <a:avLst/>
          </a:prstGeom>
          <a:solidFill>
            <a:srgbClr val="D0CAD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7305" lvl="0">
              <a:spcBef>
                <a:spcPts val="195"/>
              </a:spcBef>
              <a:defRPr/>
            </a:pPr>
            <a:r>
              <a:rPr lang="zh-CN" altLang="en-US" sz="3535" b="1" spc="-32" dirty="0">
                <a:solidFill>
                  <a:srgbClr val="000000">
                    <a:lumMod val="95000"/>
                    <a:lumOff val="5000"/>
                  </a:srgbClr>
                </a:solidFill>
                <a:latin typeface="Times New Roman Bold" panose="02020603050405020304" charset="0"/>
                <a:ea typeface="微软雅黑" panose="020B0503020204020204" charset="-122"/>
                <a:cs typeface="Times New Roman Bold" panose="02020603050405020304" charset="0"/>
                <a:sym typeface="+mn-ea"/>
              </a:rPr>
              <a:t>                                          </a:t>
            </a:r>
            <a:r>
              <a:rPr lang="en-GB" altLang="zh-CN" sz="3535" b="1" spc="-32" dirty="0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  <a:latin typeface="Times New Roman Bold" panose="02020603050405020304" charset="0"/>
                <a:ea typeface="微软雅黑" panose="020B0503020204020204" charset="-122"/>
                <a:cs typeface="Times New Roman Bold" panose="02020603050405020304" charset="0"/>
                <a:sym typeface="+mn-ea"/>
              </a:rPr>
              <a:t>Prototype</a:t>
            </a:r>
            <a:r>
              <a:rPr lang="zh-CN" altLang="en-US" sz="3535" b="1" spc="-32" dirty="0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  <a:latin typeface="Times New Roman Bold" panose="02020603050405020304" charset="0"/>
                <a:ea typeface="微软雅黑" panose="020B0503020204020204" charset="-122"/>
                <a:cs typeface="Times New Roman Bold" panose="02020603050405020304" charset="0"/>
                <a:sym typeface="+mn-ea"/>
              </a:rPr>
              <a:t> </a:t>
            </a:r>
            <a:r>
              <a:rPr lang="en-US" altLang="zh-CN" sz="3535" b="1" spc="-32" dirty="0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  <a:latin typeface="Times New Roman Bold" panose="02020603050405020304" charset="0"/>
                <a:ea typeface="微软雅黑" panose="020B0503020204020204" charset="-122"/>
                <a:cs typeface="Times New Roman Bold" panose="02020603050405020304" charset="0"/>
                <a:sym typeface="+mn-ea"/>
              </a:rPr>
              <a:t>Design</a:t>
            </a:r>
            <a:r>
              <a:rPr lang="en-GB" altLang="zh-CN" sz="3535" b="1" spc="-32" dirty="0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  <a:latin typeface="Times New Roman Bold" panose="02020603050405020304" charset="0"/>
                <a:ea typeface="微软雅黑" panose="020B0503020204020204" charset="-122"/>
                <a:cs typeface="Times New Roman Bold" panose="02020603050405020304" charset="0"/>
                <a:sym typeface="+mn-ea"/>
              </a:rPr>
              <a:t> &amp; Iterations</a:t>
            </a:r>
            <a:endParaRPr kumimoji="0" lang="en-US" altLang="zh-CN" sz="3535" b="1" i="0" u="none" strike="noStrike" kern="1200" cap="none" spc="-32" normalizeH="0" baseline="0" noProof="0" dirty="0">
              <a:ln>
                <a:noFill/>
              </a:ln>
              <a:solidFill>
                <a:srgbClr val="000000">
                  <a:lumMod val="95000"/>
                  <a:lumOff val="5000"/>
                </a:srgbClr>
              </a:solidFill>
              <a:effectLst/>
              <a:uLnTx/>
              <a:uFillTx/>
              <a:latin typeface="Times New Roman Bold" panose="02020603050405020304" charset="0"/>
              <a:ea typeface="微软雅黑" panose="020B0503020204020204" charset="-122"/>
              <a:cs typeface="Times New Roman Bold" panose="02020603050405020304" charset="0"/>
              <a:sym typeface="+mn-ea"/>
            </a:endParaRPr>
          </a:p>
          <a:p>
            <a:pPr algn="ctr"/>
            <a:endParaRPr lang="zh-CN" altLang="en-US" sz="890" dirty="0"/>
          </a:p>
        </p:txBody>
      </p:sp>
      <p:sp>
        <p:nvSpPr>
          <p:cNvPr id="29" name="TextBox 27"/>
          <p:cNvSpPr txBox="1"/>
          <p:nvPr/>
        </p:nvSpPr>
        <p:spPr>
          <a:xfrm>
            <a:off x="7967233" y="1923206"/>
            <a:ext cx="13264515" cy="64960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 defTabSz="915670">
              <a:spcBef>
                <a:spcPts val="95"/>
              </a:spcBef>
              <a:defRPr/>
            </a:pPr>
            <a:r>
              <a:rPr lang="en-US" altLang="zh-CN" sz="3535" b="1" spc="-5" dirty="0">
                <a:solidFill>
                  <a:prstClr val="black"/>
                </a:solidFill>
                <a:latin typeface="Times New Roman Bold" panose="02020603050405020304" charset="0"/>
                <a:ea typeface="微软雅黑" panose="020B0503020204020204" charset="-122"/>
                <a:cs typeface="Times New Roman Bold" panose="02020603050405020304" charset="0"/>
                <a:sym typeface="+mn-ea"/>
              </a:rPr>
              <a:t>Prototypes &amp; lteration</a:t>
            </a:r>
          </a:p>
        </p:txBody>
      </p:sp>
      <p:sp>
        <p:nvSpPr>
          <p:cNvPr id="51" name="文本框 50"/>
          <p:cNvSpPr txBox="1"/>
          <p:nvPr/>
        </p:nvSpPr>
        <p:spPr>
          <a:xfrm>
            <a:off x="156210" y="3719830"/>
            <a:ext cx="7588250" cy="13108940"/>
          </a:xfrm>
          <a:prstGeom prst="rect">
            <a:avLst/>
          </a:prstGeom>
          <a:solidFill>
            <a:srgbClr val="ECE1F1"/>
          </a:solidFill>
        </p:spPr>
        <p:txBody>
          <a:bodyPr wrap="square" rtlCol="0" anchor="t">
            <a:noAutofit/>
          </a:bodyPr>
          <a:lstStyle/>
          <a:p>
            <a:pPr marL="0" lvl="0" indent="0" defTabSz="3600450" eaLnBrk="1" hangingPunct="1">
              <a:spcBef>
                <a:spcPct val="0"/>
              </a:spcBef>
              <a:buNone/>
            </a:pPr>
            <a:endParaRPr lang="en-US" altLang="zh-CN" sz="1400" dirty="0">
              <a:solidFill>
                <a:prstClr val="black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14502765" y="26670000"/>
            <a:ext cx="6698615" cy="3528695"/>
          </a:xfrm>
          <a:prstGeom prst="rect">
            <a:avLst/>
          </a:prstGeom>
          <a:solidFill>
            <a:srgbClr val="ECE1F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890"/>
          </a:p>
        </p:txBody>
      </p:sp>
      <p:sp>
        <p:nvSpPr>
          <p:cNvPr id="36" name="矩形 35"/>
          <p:cNvSpPr/>
          <p:nvPr/>
        </p:nvSpPr>
        <p:spPr>
          <a:xfrm>
            <a:off x="7865745" y="28453715"/>
            <a:ext cx="13335000" cy="570230"/>
          </a:xfrm>
          <a:prstGeom prst="rect">
            <a:avLst/>
          </a:prstGeom>
          <a:solidFill>
            <a:srgbClr val="D0CAD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890" dirty="0"/>
          </a:p>
        </p:txBody>
      </p:sp>
      <p:sp>
        <p:nvSpPr>
          <p:cNvPr id="37" name="TextBox 27"/>
          <p:cNvSpPr txBox="1"/>
          <p:nvPr/>
        </p:nvSpPr>
        <p:spPr>
          <a:xfrm>
            <a:off x="8192135" y="28420695"/>
            <a:ext cx="13578840" cy="7442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67970" algn="ctr" defTabSz="915670">
              <a:spcBef>
                <a:spcPts val="1205"/>
              </a:spcBef>
              <a:defRPr/>
            </a:pPr>
            <a:r>
              <a:rPr lang="en-US" altLang="zh-CN" sz="3535" b="1" spc="-5" dirty="0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  <a:latin typeface="Times New Roman Bold" panose="02020603050405020304" charset="0"/>
                <a:ea typeface="微软雅黑" panose="020B0503020204020204" charset="-122"/>
                <a:cs typeface="Times New Roman Bold" panose="02020603050405020304" charset="0"/>
                <a:sym typeface="+mn-ea"/>
              </a:rPr>
              <a:t>References &amp; Acknowledgments</a:t>
            </a:r>
          </a:p>
          <a:p>
            <a:pPr marL="267970" defTabSz="915670">
              <a:spcBef>
                <a:spcPts val="1205"/>
              </a:spcBef>
              <a:defRPr/>
            </a:pPr>
            <a:endParaRPr lang="en-US" altLang="zh-CN" sz="3535" b="1" spc="-5" dirty="0">
              <a:gradFill>
                <a:gsLst>
                  <a:gs pos="0">
                    <a:srgbClr val="7B32B2"/>
                  </a:gs>
                  <a:gs pos="100000">
                    <a:srgbClr val="401A5D"/>
                  </a:gs>
                </a:gsLst>
                <a:lin scaled="0"/>
              </a:gradFill>
              <a:latin typeface="Times New Roman Bold" panose="02020603050405020304" charset="0"/>
              <a:ea typeface="微软雅黑" panose="020B0503020204020204" charset="-122"/>
              <a:cs typeface="Times New Roman Bold" panose="02020603050405020304" charset="0"/>
              <a:sym typeface="+mn-ea"/>
            </a:endParaRPr>
          </a:p>
        </p:txBody>
      </p:sp>
      <p:sp>
        <p:nvSpPr>
          <p:cNvPr id="300" name="文本框 299"/>
          <p:cNvSpPr txBox="1"/>
          <p:nvPr>
            <p:custDataLst>
              <p:tags r:id="rId1"/>
            </p:custDataLst>
          </p:nvPr>
        </p:nvSpPr>
        <p:spPr>
          <a:xfrm>
            <a:off x="7793990" y="29060140"/>
            <a:ext cx="13349605" cy="110363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86360" marR="48260">
              <a:lnSpc>
                <a:spcPct val="110000"/>
              </a:lnSpc>
              <a:spcBef>
                <a:spcPts val="635"/>
              </a:spcBef>
            </a:pPr>
            <a:r>
              <a:rPr lang="en-US" altLang="zh-CN" sz="900" dirty="0">
                <a:solidFill>
                  <a:srgbClr val="340A5E"/>
                </a:solidFill>
                <a:latin typeface="Tahoma" panose="020B0604030504040204" charset="0"/>
                <a:cs typeface="Tahoma" panose="020B0604030504040204" charset="0"/>
                <a:sym typeface="+mn-ea"/>
              </a:rPr>
              <a:t>[1] A. Kleftodimos and A. Evagelou, “Location-based augmented reality in education,”</a:t>
            </a:r>
            <a:r>
              <a:rPr lang="en-US" altLang="zh-CN" sz="900" i="1" dirty="0">
                <a:solidFill>
                  <a:srgbClr val="340A5E"/>
                </a:solidFill>
                <a:latin typeface="Tahoma" panose="020B0604030504040204" charset="0"/>
                <a:cs typeface="Tahoma" panose="020B0604030504040204" charset="0"/>
                <a:sym typeface="+mn-ea"/>
              </a:rPr>
              <a:t> Encyclopedia</a:t>
            </a:r>
            <a:r>
              <a:rPr lang="en-US" altLang="zh-CN" sz="900" dirty="0">
                <a:solidFill>
                  <a:srgbClr val="340A5E"/>
                </a:solidFill>
                <a:latin typeface="Tahoma" panose="020B0604030504040204" charset="0"/>
                <a:cs typeface="Tahoma" panose="020B0604030504040204" charset="0"/>
                <a:sym typeface="+mn-ea"/>
              </a:rPr>
              <a:t>, 2025, 5, 54, doi: 10.3390/encyclopedia5020054.</a:t>
            </a:r>
          </a:p>
          <a:p>
            <a:pPr marL="86360" marR="48260">
              <a:lnSpc>
                <a:spcPct val="110000"/>
              </a:lnSpc>
              <a:spcBef>
                <a:spcPts val="635"/>
              </a:spcBef>
            </a:pPr>
            <a:r>
              <a:rPr lang="en-US" altLang="zh-CN" sz="900" dirty="0">
                <a:solidFill>
                  <a:srgbClr val="340A5E"/>
                </a:solidFill>
                <a:latin typeface="Tahoma" panose="020B0604030504040204" charset="0"/>
                <a:cs typeface="Tahoma" panose="020B0604030504040204" charset="0"/>
                <a:sym typeface="+mn-ea"/>
              </a:rPr>
              <a:t>[2] X. Fonseca, P. Spangenberger, M. Baer, R. Schmidt, and H. Söbke, “Location-based augmented reality in education: A systematic literature review,” </a:t>
            </a:r>
            <a:r>
              <a:rPr lang="en-US" altLang="zh-CN" sz="900" i="1" dirty="0">
                <a:solidFill>
                  <a:srgbClr val="340A5E"/>
                </a:solidFill>
                <a:latin typeface="Tahoma" panose="020B0604030504040204" charset="0"/>
                <a:cs typeface="Tahoma" panose="020B0604030504040204" charset="0"/>
                <a:sym typeface="+mn-ea"/>
              </a:rPr>
              <a:t>Computers and Education Open</a:t>
            </a:r>
            <a:r>
              <a:rPr lang="en-US" altLang="zh-CN" sz="900" dirty="0">
                <a:solidFill>
                  <a:srgbClr val="340A5E"/>
                </a:solidFill>
                <a:latin typeface="Tahoma" panose="020B0604030504040204" charset="0"/>
                <a:cs typeface="Tahoma" panose="020B0604030504040204" charset="0"/>
                <a:sym typeface="+mn-ea"/>
              </a:rPr>
              <a:t>, 9 (2025) 100277, doi: 10.1016/j.caeo.2025.100277.</a:t>
            </a:r>
          </a:p>
          <a:p>
            <a:pPr marL="86360" marR="48260">
              <a:lnSpc>
                <a:spcPct val="110000"/>
              </a:lnSpc>
              <a:spcBef>
                <a:spcPts val="635"/>
              </a:spcBef>
            </a:pPr>
            <a:r>
              <a:rPr lang="en-US" altLang="zh-CN" sz="900" dirty="0">
                <a:solidFill>
                  <a:srgbClr val="340A5E"/>
                </a:solidFill>
                <a:latin typeface="Tahoma" panose="020B0604030504040204" charset="0"/>
                <a:cs typeface="Tahoma" panose="020B0604030504040204" charset="0"/>
                <a:sym typeface="+mn-ea"/>
              </a:rPr>
              <a:t>[3] S. Taşyonar and A. M. Uzun, “Using a location-based augmented reality mobile application to support the new students’ orientation process,” </a:t>
            </a:r>
            <a:r>
              <a:rPr lang="en-US" altLang="zh-CN" sz="900" i="1" dirty="0">
                <a:solidFill>
                  <a:srgbClr val="340A5E"/>
                </a:solidFill>
                <a:latin typeface="Tahoma" panose="020B0604030504040204" charset="0"/>
                <a:cs typeface="Tahoma" panose="020B0604030504040204" charset="0"/>
                <a:sym typeface="+mn-ea"/>
              </a:rPr>
              <a:t>Open Praxis</a:t>
            </a:r>
            <a:r>
              <a:rPr lang="en-US" altLang="zh-CN" sz="900" dirty="0">
                <a:solidFill>
                  <a:srgbClr val="340A5E"/>
                </a:solidFill>
                <a:latin typeface="Tahoma" panose="020B0604030504040204" charset="0"/>
                <a:cs typeface="Tahoma" panose="020B0604030504040204" charset="0"/>
                <a:sym typeface="+mn-ea"/>
              </a:rPr>
              <a:t>, 17(4), pp. 768–784, 2025, doi: 10.55982/openpraxis.17.4.886.</a:t>
            </a:r>
          </a:p>
          <a:p>
            <a:pPr marL="86360" marR="48260">
              <a:lnSpc>
                <a:spcPct val="110000"/>
              </a:lnSpc>
              <a:spcBef>
                <a:spcPts val="635"/>
              </a:spcBef>
            </a:pPr>
            <a:r>
              <a:rPr lang="en-US" altLang="zh-CN" sz="900" dirty="0">
                <a:solidFill>
                  <a:srgbClr val="340A5E"/>
                </a:solidFill>
                <a:latin typeface="Tahoma" panose="020B0604030504040204" charset="0"/>
                <a:cs typeface="Tahoma" panose="020B0604030504040204" charset="0"/>
                <a:sym typeface="+mn-ea"/>
              </a:rPr>
              <a:t>[4] C.-Y. Hsieh, C.-M. Chen, and Y.-C. Yang, “A game-based augmented reality navigation system to support makerspace user education in a university library,” in </a:t>
            </a:r>
            <a:r>
              <a:rPr lang="en-US" altLang="zh-CN" sz="900" i="1" dirty="0">
                <a:solidFill>
                  <a:srgbClr val="340A5E"/>
                </a:solidFill>
                <a:latin typeface="Tahoma" panose="020B0604030504040204" charset="0"/>
                <a:cs typeface="Tahoma" panose="020B0604030504040204" charset="0"/>
                <a:sym typeface="+mn-ea"/>
              </a:rPr>
              <a:t>2023 14th IIAI International Congress on Advanced Applied Informatics (IIAI-AAI)</a:t>
            </a:r>
            <a:r>
              <a:rPr lang="en-US" altLang="zh-CN" sz="900" dirty="0">
                <a:solidFill>
                  <a:srgbClr val="340A5E"/>
                </a:solidFill>
                <a:latin typeface="Tahoma" panose="020B0604030504040204" charset="0"/>
                <a:cs typeface="Tahoma" panose="020B0604030504040204" charset="0"/>
                <a:sym typeface="+mn-ea"/>
              </a:rPr>
              <a:t>, 2023, pp. 218–223, doi: 10.1109/IIAI-AAI59060.2023.00052.</a:t>
            </a:r>
          </a:p>
        </p:txBody>
      </p:sp>
      <p:grpSp>
        <p:nvGrpSpPr>
          <p:cNvPr id="9" name="组合 8"/>
          <p:cNvGrpSpPr/>
          <p:nvPr/>
        </p:nvGrpSpPr>
        <p:grpSpPr>
          <a:xfrm>
            <a:off x="0" y="0"/>
            <a:ext cx="21420326" cy="2844333"/>
            <a:chOff x="-96" y="14815"/>
            <a:chExt cx="50995" cy="6060"/>
          </a:xfrm>
          <a:solidFill>
            <a:srgbClr val="8571AA"/>
          </a:solidFill>
        </p:grpSpPr>
        <p:sp>
          <p:nvSpPr>
            <p:cNvPr id="2" name="矩形 1"/>
            <p:cNvSpPr/>
            <p:nvPr/>
          </p:nvSpPr>
          <p:spPr>
            <a:xfrm>
              <a:off x="-96" y="14815"/>
              <a:ext cx="50995" cy="606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890"/>
            </a:p>
          </p:txBody>
        </p:sp>
        <p:pic>
          <p:nvPicPr>
            <p:cNvPr id="4" name="图片 3" descr="图片6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-96" y="14874"/>
              <a:ext cx="50995" cy="5644"/>
            </a:xfrm>
            <a:prstGeom prst="rect">
              <a:avLst/>
            </a:prstGeom>
            <a:grpFill/>
          </p:spPr>
        </p:pic>
        <p:sp>
          <p:nvSpPr>
            <p:cNvPr id="6" name="object 6"/>
            <p:cNvSpPr txBox="1"/>
            <p:nvPr/>
          </p:nvSpPr>
          <p:spPr>
            <a:xfrm>
              <a:off x="6800" y="15567"/>
              <a:ext cx="41230" cy="2944"/>
            </a:xfrm>
            <a:prstGeom prst="rect">
              <a:avLst/>
            </a:prstGeom>
            <a:solidFill>
              <a:srgbClr val="8571AA"/>
            </a:solidFill>
          </p:spPr>
          <p:txBody>
            <a:bodyPr vert="horz" wrap="square" lIns="0" tIns="7565" rIns="0" bIns="0" rtlCol="0">
              <a:spAutoFit/>
              <a:scene3d>
                <a:camera prst="orthographicFront"/>
                <a:lightRig rig="soft" dir="t">
                  <a:rot lat="0" lon="0" rev="15600000"/>
                </a:lightRig>
              </a:scene3d>
              <a:sp3d extrusionH="57150" prstMaterial="softEdge">
                <a:bevelT w="25400" h="38100"/>
              </a:sp3d>
            </a:bodyPr>
            <a:lstStyle/>
            <a:p>
              <a:pPr marL="38100" indent="0" algn="ctr" defTabSz="915670" fontAlgn="auto">
                <a:lnSpc>
                  <a:spcPct val="90000"/>
                </a:lnSpc>
                <a:spcBef>
                  <a:spcPts val="0"/>
                </a:spcBef>
                <a:defRPr/>
              </a:pPr>
              <a:r>
                <a:rPr lang="en-US" altLang="zh-CN" sz="4960" b="1" dirty="0" err="1">
                  <a:solidFill>
                    <a:schemeClr val="accent4"/>
                  </a:solidFill>
                  <a:effectLst/>
                  <a:latin typeface="Times New Roman Bold" panose="02020603050405020304" charset="0"/>
                  <a:cs typeface="Times New Roman Bold" panose="02020603050405020304" charset="0"/>
                </a:rPr>
                <a:t>X·EasyGo:An</a:t>
              </a:r>
              <a:r>
                <a:rPr lang="en-US" altLang="zh-CN" sz="4960" b="1" dirty="0">
                  <a:solidFill>
                    <a:schemeClr val="accent4"/>
                  </a:solidFill>
                  <a:effectLst/>
                  <a:latin typeface="Times New Roman Bold" panose="02020603050405020304" charset="0"/>
                  <a:cs typeface="Times New Roman Bold" panose="02020603050405020304" charset="0"/>
                </a:rPr>
                <a:t> interactive journey bridging reality and digital storytelling through location-based </a:t>
              </a:r>
              <a:r>
                <a:rPr lang="en-US" altLang="zh-CN" sz="4960" b="1">
                  <a:solidFill>
                    <a:schemeClr val="accent4"/>
                  </a:solidFill>
                  <a:effectLst/>
                  <a:latin typeface="Times New Roman Bold" panose="02020603050405020304" charset="0"/>
                  <a:cs typeface="Times New Roman Bold" panose="02020603050405020304" charset="0"/>
                </a:rPr>
                <a:t>AR technology </a:t>
              </a:r>
              <a:endParaRPr lang="en-US" altLang="zh-CN" sz="4960" b="1" dirty="0">
                <a:solidFill>
                  <a:schemeClr val="accent4"/>
                </a:solidFill>
                <a:effectLst/>
                <a:latin typeface="Times New Roman Bold" panose="02020603050405020304" charset="0"/>
                <a:cs typeface="Times New Roman Bold" panose="02020603050405020304" charset="0"/>
              </a:endParaRPr>
            </a:p>
          </p:txBody>
        </p:sp>
        <p:grpSp>
          <p:nvGrpSpPr>
            <p:cNvPr id="17" name="组合 16"/>
            <p:cNvGrpSpPr/>
            <p:nvPr/>
          </p:nvGrpSpPr>
          <p:grpSpPr>
            <a:xfrm>
              <a:off x="1820" y="15543"/>
              <a:ext cx="4532" cy="4977"/>
              <a:chOff x="1028" y="609"/>
              <a:chExt cx="6043" cy="6636"/>
            </a:xfrm>
            <a:grpFill/>
          </p:grpSpPr>
          <p:sp>
            <p:nvSpPr>
              <p:cNvPr id="281770" name="任意多边形 281769"/>
              <p:cNvSpPr/>
              <p:nvPr/>
            </p:nvSpPr>
            <p:spPr>
              <a:xfrm>
                <a:off x="1028" y="609"/>
                <a:ext cx="6043" cy="6636"/>
              </a:xfrm>
              <a:custGeom>
                <a:avLst/>
                <a:gdLst/>
                <a:ahLst/>
                <a:cxnLst/>
                <a:rect l="0" t="0" r="0" b="0"/>
                <a:pathLst>
                  <a:path w="15595" h="19200">
                    <a:moveTo>
                      <a:pt x="15595" y="0"/>
                    </a:moveTo>
                    <a:lnTo>
                      <a:pt x="15595" y="115"/>
                    </a:lnTo>
                    <a:lnTo>
                      <a:pt x="15595" y="440"/>
                    </a:lnTo>
                    <a:lnTo>
                      <a:pt x="15595" y="946"/>
                    </a:lnTo>
                    <a:lnTo>
                      <a:pt x="15595" y="1602"/>
                    </a:lnTo>
                    <a:lnTo>
                      <a:pt x="15595" y="2377"/>
                    </a:lnTo>
                    <a:lnTo>
                      <a:pt x="15595" y="3244"/>
                    </a:lnTo>
                    <a:lnTo>
                      <a:pt x="15595" y="4170"/>
                    </a:lnTo>
                    <a:lnTo>
                      <a:pt x="15595" y="5125"/>
                    </a:lnTo>
                    <a:lnTo>
                      <a:pt x="15595" y="6082"/>
                    </a:lnTo>
                    <a:lnTo>
                      <a:pt x="15595" y="7008"/>
                    </a:lnTo>
                    <a:lnTo>
                      <a:pt x="15595" y="7873"/>
                    </a:lnTo>
                    <a:lnTo>
                      <a:pt x="15595" y="8650"/>
                    </a:lnTo>
                    <a:lnTo>
                      <a:pt x="15595" y="9305"/>
                    </a:lnTo>
                    <a:lnTo>
                      <a:pt x="15595" y="9810"/>
                    </a:lnTo>
                    <a:lnTo>
                      <a:pt x="15595" y="10135"/>
                    </a:lnTo>
                    <a:lnTo>
                      <a:pt x="15595" y="10250"/>
                    </a:lnTo>
                    <a:lnTo>
                      <a:pt x="15594" y="10392"/>
                    </a:lnTo>
                    <a:lnTo>
                      <a:pt x="15591" y="10532"/>
                    </a:lnTo>
                    <a:lnTo>
                      <a:pt x="15587" y="10674"/>
                    </a:lnTo>
                    <a:lnTo>
                      <a:pt x="15579" y="10817"/>
                    </a:lnTo>
                    <a:lnTo>
                      <a:pt x="15570" y="10960"/>
                    </a:lnTo>
                    <a:lnTo>
                      <a:pt x="15558" y="11102"/>
                    </a:lnTo>
                    <a:lnTo>
                      <a:pt x="15545" y="11246"/>
                    </a:lnTo>
                    <a:lnTo>
                      <a:pt x="15528" y="11390"/>
                    </a:lnTo>
                    <a:lnTo>
                      <a:pt x="15510" y="11534"/>
                    </a:lnTo>
                    <a:lnTo>
                      <a:pt x="15488" y="11678"/>
                    </a:lnTo>
                    <a:lnTo>
                      <a:pt x="15464" y="11824"/>
                    </a:lnTo>
                    <a:lnTo>
                      <a:pt x="15439" y="11969"/>
                    </a:lnTo>
                    <a:lnTo>
                      <a:pt x="15409" y="12115"/>
                    </a:lnTo>
                    <a:lnTo>
                      <a:pt x="15378" y="12260"/>
                    </a:lnTo>
                    <a:lnTo>
                      <a:pt x="15344" y="12407"/>
                    </a:lnTo>
                    <a:lnTo>
                      <a:pt x="15307" y="12553"/>
                    </a:lnTo>
                    <a:lnTo>
                      <a:pt x="15266" y="12700"/>
                    </a:lnTo>
                    <a:lnTo>
                      <a:pt x="15223" y="12846"/>
                    </a:lnTo>
                    <a:lnTo>
                      <a:pt x="15177" y="12994"/>
                    </a:lnTo>
                    <a:lnTo>
                      <a:pt x="15128" y="13140"/>
                    </a:lnTo>
                    <a:lnTo>
                      <a:pt x="15075" y="13288"/>
                    </a:lnTo>
                    <a:lnTo>
                      <a:pt x="15020" y="13434"/>
                    </a:lnTo>
                    <a:lnTo>
                      <a:pt x="14962" y="13582"/>
                    </a:lnTo>
                    <a:lnTo>
                      <a:pt x="14899" y="13729"/>
                    </a:lnTo>
                    <a:lnTo>
                      <a:pt x="14834" y="13876"/>
                    </a:lnTo>
                    <a:lnTo>
                      <a:pt x="14765" y="14023"/>
                    </a:lnTo>
                    <a:lnTo>
                      <a:pt x="14693" y="14171"/>
                    </a:lnTo>
                    <a:lnTo>
                      <a:pt x="14617" y="14317"/>
                    </a:lnTo>
                    <a:lnTo>
                      <a:pt x="14537" y="14465"/>
                    </a:lnTo>
                    <a:lnTo>
                      <a:pt x="14454" y="14611"/>
                    </a:lnTo>
                    <a:lnTo>
                      <a:pt x="14366" y="14758"/>
                    </a:lnTo>
                    <a:lnTo>
                      <a:pt x="14276" y="14904"/>
                    </a:lnTo>
                    <a:lnTo>
                      <a:pt x="14078" y="15216"/>
                    </a:lnTo>
                    <a:lnTo>
                      <a:pt x="13876" y="15512"/>
                    </a:lnTo>
                    <a:lnTo>
                      <a:pt x="13668" y="15793"/>
                    </a:lnTo>
                    <a:lnTo>
                      <a:pt x="13457" y="16058"/>
                    </a:lnTo>
                    <a:lnTo>
                      <a:pt x="13242" y="16308"/>
                    </a:lnTo>
                    <a:lnTo>
                      <a:pt x="13024" y="16544"/>
                    </a:lnTo>
                    <a:lnTo>
                      <a:pt x="12803" y="16766"/>
                    </a:lnTo>
                    <a:lnTo>
                      <a:pt x="12580" y="16976"/>
                    </a:lnTo>
                    <a:lnTo>
                      <a:pt x="12357" y="17172"/>
                    </a:lnTo>
                    <a:lnTo>
                      <a:pt x="12131" y="17356"/>
                    </a:lnTo>
                    <a:lnTo>
                      <a:pt x="11907" y="17527"/>
                    </a:lnTo>
                    <a:lnTo>
                      <a:pt x="11682" y="17688"/>
                    </a:lnTo>
                    <a:lnTo>
                      <a:pt x="11458" y="17837"/>
                    </a:lnTo>
                    <a:lnTo>
                      <a:pt x="11236" y="17976"/>
                    </a:lnTo>
                    <a:lnTo>
                      <a:pt x="11015" y="18104"/>
                    </a:lnTo>
                    <a:lnTo>
                      <a:pt x="10798" y="18223"/>
                    </a:lnTo>
                    <a:lnTo>
                      <a:pt x="10583" y="18334"/>
                    </a:lnTo>
                    <a:lnTo>
                      <a:pt x="10372" y="18434"/>
                    </a:lnTo>
                    <a:lnTo>
                      <a:pt x="10165" y="18528"/>
                    </a:lnTo>
                    <a:lnTo>
                      <a:pt x="9963" y="18613"/>
                    </a:lnTo>
                    <a:lnTo>
                      <a:pt x="9766" y="18691"/>
                    </a:lnTo>
                    <a:lnTo>
                      <a:pt x="9576" y="18762"/>
                    </a:lnTo>
                    <a:lnTo>
                      <a:pt x="9391" y="18827"/>
                    </a:lnTo>
                    <a:lnTo>
                      <a:pt x="9213" y="18886"/>
                    </a:lnTo>
                    <a:lnTo>
                      <a:pt x="9043" y="18940"/>
                    </a:lnTo>
                    <a:lnTo>
                      <a:pt x="8881" y="18988"/>
                    </a:lnTo>
                    <a:lnTo>
                      <a:pt x="8729" y="19032"/>
                    </a:lnTo>
                    <a:lnTo>
                      <a:pt x="8583" y="19072"/>
                    </a:lnTo>
                    <a:lnTo>
                      <a:pt x="8325" y="19141"/>
                    </a:lnTo>
                    <a:lnTo>
                      <a:pt x="8111" y="19200"/>
                    </a:lnTo>
                    <a:lnTo>
                      <a:pt x="7892" y="19169"/>
                    </a:lnTo>
                    <a:lnTo>
                      <a:pt x="7673" y="19132"/>
                    </a:lnTo>
                    <a:lnTo>
                      <a:pt x="7450" y="19086"/>
                    </a:lnTo>
                    <a:lnTo>
                      <a:pt x="7224" y="19034"/>
                    </a:lnTo>
                    <a:lnTo>
                      <a:pt x="6997" y="18976"/>
                    </a:lnTo>
                    <a:lnTo>
                      <a:pt x="6769" y="18910"/>
                    </a:lnTo>
                    <a:lnTo>
                      <a:pt x="6539" y="18836"/>
                    </a:lnTo>
                    <a:lnTo>
                      <a:pt x="6310" y="18757"/>
                    </a:lnTo>
                    <a:lnTo>
                      <a:pt x="6078" y="18671"/>
                    </a:lnTo>
                    <a:lnTo>
                      <a:pt x="5848" y="18577"/>
                    </a:lnTo>
                    <a:lnTo>
                      <a:pt x="5617" y="18478"/>
                    </a:lnTo>
                    <a:lnTo>
                      <a:pt x="5387" y="18371"/>
                    </a:lnTo>
                    <a:lnTo>
                      <a:pt x="5158" y="18258"/>
                    </a:lnTo>
                    <a:lnTo>
                      <a:pt x="4930" y="18138"/>
                    </a:lnTo>
                    <a:lnTo>
                      <a:pt x="4704" y="18011"/>
                    </a:lnTo>
                    <a:lnTo>
                      <a:pt x="4480" y="17878"/>
                    </a:lnTo>
                    <a:lnTo>
                      <a:pt x="4258" y="17738"/>
                    </a:lnTo>
                    <a:lnTo>
                      <a:pt x="4039" y="17592"/>
                    </a:lnTo>
                    <a:lnTo>
                      <a:pt x="3821" y="17438"/>
                    </a:lnTo>
                    <a:lnTo>
                      <a:pt x="3608" y="17280"/>
                    </a:lnTo>
                    <a:lnTo>
                      <a:pt x="3398" y="17113"/>
                    </a:lnTo>
                    <a:lnTo>
                      <a:pt x="3191" y="16942"/>
                    </a:lnTo>
                    <a:lnTo>
                      <a:pt x="2990" y="16763"/>
                    </a:lnTo>
                    <a:lnTo>
                      <a:pt x="2793" y="16578"/>
                    </a:lnTo>
                    <a:lnTo>
                      <a:pt x="2600" y="16386"/>
                    </a:lnTo>
                    <a:lnTo>
                      <a:pt x="2413" y="16189"/>
                    </a:lnTo>
                    <a:lnTo>
                      <a:pt x="2232" y="15985"/>
                    </a:lnTo>
                    <a:lnTo>
                      <a:pt x="2055" y="15775"/>
                    </a:lnTo>
                    <a:lnTo>
                      <a:pt x="1886" y="15558"/>
                    </a:lnTo>
                    <a:lnTo>
                      <a:pt x="1723" y="15336"/>
                    </a:lnTo>
                    <a:lnTo>
                      <a:pt x="1567" y="15107"/>
                    </a:lnTo>
                    <a:lnTo>
                      <a:pt x="1418" y="14872"/>
                    </a:lnTo>
                    <a:lnTo>
                      <a:pt x="1315" y="14702"/>
                    </a:lnTo>
                    <a:lnTo>
                      <a:pt x="1218" y="14533"/>
                    </a:lnTo>
                    <a:lnTo>
                      <a:pt x="1127" y="14366"/>
                    </a:lnTo>
                    <a:lnTo>
                      <a:pt x="1039" y="14201"/>
                    </a:lnTo>
                    <a:lnTo>
                      <a:pt x="956" y="14036"/>
                    </a:lnTo>
                    <a:lnTo>
                      <a:pt x="879" y="13873"/>
                    </a:lnTo>
                    <a:lnTo>
                      <a:pt x="806" y="13710"/>
                    </a:lnTo>
                    <a:lnTo>
                      <a:pt x="737" y="13549"/>
                    </a:lnTo>
                    <a:lnTo>
                      <a:pt x="673" y="13388"/>
                    </a:lnTo>
                    <a:lnTo>
                      <a:pt x="612" y="13228"/>
                    </a:lnTo>
                    <a:lnTo>
                      <a:pt x="556" y="13067"/>
                    </a:lnTo>
                    <a:lnTo>
                      <a:pt x="503" y="12907"/>
                    </a:lnTo>
                    <a:lnTo>
                      <a:pt x="454" y="12748"/>
                    </a:lnTo>
                    <a:lnTo>
                      <a:pt x="408" y="12588"/>
                    </a:lnTo>
                    <a:lnTo>
                      <a:pt x="365" y="12428"/>
                    </a:lnTo>
                    <a:lnTo>
                      <a:pt x="325" y="12269"/>
                    </a:lnTo>
                    <a:lnTo>
                      <a:pt x="289" y="12108"/>
                    </a:lnTo>
                    <a:lnTo>
                      <a:pt x="256" y="11947"/>
                    </a:lnTo>
                    <a:lnTo>
                      <a:pt x="224" y="11785"/>
                    </a:lnTo>
                    <a:lnTo>
                      <a:pt x="197" y="11623"/>
                    </a:lnTo>
                    <a:lnTo>
                      <a:pt x="170" y="11460"/>
                    </a:lnTo>
                    <a:lnTo>
                      <a:pt x="146" y="11296"/>
                    </a:lnTo>
                    <a:lnTo>
                      <a:pt x="125" y="11130"/>
                    </a:lnTo>
                    <a:lnTo>
                      <a:pt x="106" y="10963"/>
                    </a:lnTo>
                    <a:lnTo>
                      <a:pt x="88" y="10795"/>
                    </a:lnTo>
                    <a:lnTo>
                      <a:pt x="72" y="10626"/>
                    </a:lnTo>
                    <a:lnTo>
                      <a:pt x="56" y="10454"/>
                    </a:lnTo>
                    <a:lnTo>
                      <a:pt x="43" y="10282"/>
                    </a:lnTo>
                    <a:lnTo>
                      <a:pt x="31" y="10106"/>
                    </a:lnTo>
                    <a:lnTo>
                      <a:pt x="20" y="9929"/>
                    </a:lnTo>
                    <a:lnTo>
                      <a:pt x="10" y="9749"/>
                    </a:lnTo>
                    <a:lnTo>
                      <a:pt x="0" y="9568"/>
                    </a:lnTo>
                    <a:lnTo>
                      <a:pt x="0" y="9455"/>
                    </a:lnTo>
                    <a:lnTo>
                      <a:pt x="0" y="9148"/>
                    </a:lnTo>
                    <a:lnTo>
                      <a:pt x="0" y="8672"/>
                    </a:lnTo>
                    <a:lnTo>
                      <a:pt x="0" y="8059"/>
                    </a:lnTo>
                    <a:lnTo>
                      <a:pt x="0" y="7334"/>
                    </a:lnTo>
                    <a:lnTo>
                      <a:pt x="0" y="6526"/>
                    </a:lnTo>
                    <a:lnTo>
                      <a:pt x="0" y="5663"/>
                    </a:lnTo>
                    <a:lnTo>
                      <a:pt x="0" y="4771"/>
                    </a:lnTo>
                    <a:lnTo>
                      <a:pt x="0" y="3881"/>
                    </a:lnTo>
                    <a:lnTo>
                      <a:pt x="0" y="3019"/>
                    </a:lnTo>
                    <a:lnTo>
                      <a:pt x="0" y="2213"/>
                    </a:lnTo>
                    <a:lnTo>
                      <a:pt x="0" y="1490"/>
                    </a:lnTo>
                    <a:lnTo>
                      <a:pt x="0" y="880"/>
                    </a:lnTo>
                    <a:lnTo>
                      <a:pt x="0" y="409"/>
                    </a:lnTo>
                    <a:lnTo>
                      <a:pt x="0" y="107"/>
                    </a:lnTo>
                    <a:lnTo>
                      <a:pt x="0" y="0"/>
                    </a:lnTo>
                    <a:lnTo>
                      <a:pt x="15595" y="0"/>
                    </a:lnTo>
                    <a:close/>
                  </a:path>
                </a:pathLst>
              </a:custGeom>
              <a:grpFill/>
              <a:ln w="41275" cap="flat" cmpd="sng">
                <a:solidFill>
                  <a:schemeClr val="bg1">
                    <a:lumMod val="50000"/>
                  </a:schemeClr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 sz="890"/>
              </a:p>
            </p:txBody>
          </p:sp>
          <p:sp>
            <p:nvSpPr>
              <p:cNvPr id="282308" name="文本框 282307"/>
              <p:cNvSpPr txBox="1"/>
              <p:nvPr/>
            </p:nvSpPr>
            <p:spPr>
              <a:xfrm>
                <a:off x="1612" y="840"/>
                <a:ext cx="4823" cy="4806"/>
              </a:xfrm>
              <a:prstGeom prst="rect">
                <a:avLst/>
              </a:prstGeom>
              <a:grpFill/>
              <a:ln w="12700">
                <a:noFill/>
              </a:ln>
            </p:spPr>
            <p:txBody>
              <a:bodyPr wrap="square" anchor="t" anchorCtr="0">
                <a:spAutoFit/>
              </a:bodyPr>
              <a:lstStyle/>
              <a:p>
                <a:pPr algn="ctr" defTabSz="4806950"/>
                <a:r>
                  <a:rPr lang="en-US" altLang="zh-CN" sz="3470" b="1">
                    <a:solidFill>
                      <a:schemeClr val="bg1"/>
                    </a:solidFill>
                    <a:latin typeface="宋体" pitchFamily="2" charset="-122"/>
                    <a:ea typeface="宋体" pitchFamily="2" charset="-122"/>
                  </a:rPr>
                  <a:t>Your</a:t>
                </a:r>
              </a:p>
              <a:p>
                <a:pPr algn="ctr" defTabSz="4806950"/>
                <a:r>
                  <a:rPr lang="en-US" altLang="zh-CN" sz="3470" b="1">
                    <a:solidFill>
                      <a:schemeClr val="bg1"/>
                    </a:solidFill>
                    <a:latin typeface="宋体" pitchFamily="2" charset="-122"/>
                    <a:ea typeface="宋体" pitchFamily="2" charset="-122"/>
                  </a:rPr>
                  <a:t>LOGO</a:t>
                </a:r>
              </a:p>
              <a:p>
                <a:pPr algn="ctr" defTabSz="4806950"/>
                <a:r>
                  <a:rPr lang="en-US" altLang="zh-CN" sz="3470" b="1">
                    <a:solidFill>
                      <a:schemeClr val="bg1"/>
                    </a:solidFill>
                    <a:latin typeface="宋体" pitchFamily="2" charset="-122"/>
                    <a:ea typeface="宋体" pitchFamily="2" charset="-122"/>
                  </a:rPr>
                  <a:t>here</a:t>
                </a:r>
              </a:p>
            </p:txBody>
          </p:sp>
        </p:grpSp>
      </p:grpSp>
      <p:sp>
        <p:nvSpPr>
          <p:cNvPr id="55" name="文本框 54"/>
          <p:cNvSpPr txBox="1"/>
          <p:nvPr/>
        </p:nvSpPr>
        <p:spPr>
          <a:xfrm>
            <a:off x="156210" y="16800829"/>
            <a:ext cx="7593965" cy="13397409"/>
          </a:xfrm>
          <a:prstGeom prst="rect">
            <a:avLst/>
          </a:prstGeom>
          <a:solidFill>
            <a:srgbClr val="ECE1F1"/>
          </a:solidFill>
        </p:spPr>
        <p:txBody>
          <a:bodyPr wrap="square" rtlCol="0" anchor="t">
            <a:noAutofit/>
          </a:bodyPr>
          <a:lstStyle/>
          <a:p>
            <a:pPr marL="0" lvl="0" indent="0" defTabSz="3600450" eaLnBrk="1" hangingPunct="1">
              <a:spcBef>
                <a:spcPct val="0"/>
              </a:spcBef>
              <a:buNone/>
            </a:pPr>
            <a:endParaRPr lang="en-US" altLang="zh-CN" sz="1400" dirty="0">
              <a:latin typeface="Tahoma" panose="020B0604030504040204" charset="0"/>
              <a:cs typeface="Tahoma" panose="020B0604030504040204" charset="0"/>
            </a:endParaRPr>
          </a:p>
        </p:txBody>
      </p:sp>
      <p:sp>
        <p:nvSpPr>
          <p:cNvPr id="56" name="矩形 55"/>
          <p:cNvSpPr/>
          <p:nvPr/>
        </p:nvSpPr>
        <p:spPr>
          <a:xfrm>
            <a:off x="7854315" y="17131665"/>
            <a:ext cx="13344525" cy="662305"/>
          </a:xfrm>
          <a:prstGeom prst="rect">
            <a:avLst/>
          </a:prstGeom>
          <a:solidFill>
            <a:srgbClr val="D0CAD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lvl="0" indent="0" algn="ctr">
              <a:spcBef>
                <a:spcPct val="50000"/>
              </a:spcBef>
              <a:buNone/>
            </a:pPr>
            <a:r>
              <a:rPr lang="en-US" altLang="zh-CN" sz="3820" b="1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</a:p>
        </p:txBody>
      </p:sp>
      <p:pic>
        <p:nvPicPr>
          <p:cNvPr id="47" name="图片 4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3617" y="335966"/>
            <a:ext cx="1902160" cy="2336041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文本框 13"/>
          <p:cNvSpPr txBox="1"/>
          <p:nvPr/>
        </p:nvSpPr>
        <p:spPr>
          <a:xfrm>
            <a:off x="237490" y="3703644"/>
            <a:ext cx="7400925" cy="224917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lvl="0" algn="just" defTabSz="3600450">
              <a:spcBef>
                <a:spcPct val="0"/>
              </a:spcBef>
            </a:pPr>
            <a:r>
              <a:rPr lang="en-GB" altLang="zh-CN" sz="1300" b="1" i="0" dirty="0">
                <a:solidFill>
                  <a:srgbClr val="340A5E"/>
                </a:solidFill>
                <a:effectLst/>
                <a:latin typeface="-apple-system"/>
              </a:rPr>
              <a:t>Traditional campus tours</a:t>
            </a:r>
            <a:r>
              <a:rPr lang="en-GB" altLang="zh-CN" sz="1300" b="0" i="0" dirty="0">
                <a:solidFill>
                  <a:srgbClr val="340A5E"/>
                </a:solidFill>
                <a:effectLst/>
                <a:latin typeface="-apple-system"/>
              </a:rPr>
              <a:t> often rely on </a:t>
            </a:r>
            <a:r>
              <a:rPr lang="en-GB" altLang="zh-CN" sz="1300" b="1" i="0" dirty="0">
                <a:solidFill>
                  <a:srgbClr val="340A5E"/>
                </a:solidFill>
                <a:effectLst/>
                <a:latin typeface="-apple-system"/>
              </a:rPr>
              <a:t>one-way explanations</a:t>
            </a:r>
            <a:r>
              <a:rPr lang="en-GB" altLang="zh-CN" sz="1300" b="0" i="0" dirty="0">
                <a:solidFill>
                  <a:srgbClr val="340A5E"/>
                </a:solidFill>
                <a:effectLst/>
                <a:latin typeface="-apple-system"/>
              </a:rPr>
              <a:t>, making visitors </a:t>
            </a:r>
            <a:r>
              <a:rPr lang="en-GB" altLang="zh-CN" sz="1300" b="1" i="0" dirty="0">
                <a:solidFill>
                  <a:srgbClr val="340A5E"/>
                </a:solidFill>
                <a:effectLst/>
                <a:latin typeface="-apple-system"/>
              </a:rPr>
              <a:t>passive listeners</a:t>
            </a:r>
            <a:r>
              <a:rPr lang="en-GB" altLang="zh-CN" sz="1300" b="0" i="0" dirty="0">
                <a:solidFill>
                  <a:srgbClr val="340A5E"/>
                </a:solidFill>
                <a:effectLst/>
                <a:latin typeface="-apple-system"/>
              </a:rPr>
              <a:t> rather than </a:t>
            </a:r>
            <a:r>
              <a:rPr lang="en-GB" altLang="zh-CN" sz="1300" b="1" i="0" dirty="0">
                <a:solidFill>
                  <a:srgbClr val="340A5E"/>
                </a:solidFill>
                <a:effectLst/>
                <a:latin typeface="-apple-system"/>
              </a:rPr>
              <a:t>active explorers</a:t>
            </a:r>
            <a:r>
              <a:rPr lang="en-GB" altLang="zh-CN" sz="1300" b="0" i="0" dirty="0">
                <a:solidFill>
                  <a:srgbClr val="340A5E"/>
                </a:solidFill>
                <a:effectLst/>
                <a:latin typeface="-apple-system"/>
              </a:rPr>
              <a:t>. At Xi’an </a:t>
            </a:r>
            <a:r>
              <a:rPr lang="en-GB" altLang="zh-CN" sz="1300" b="0" i="0" dirty="0" err="1">
                <a:solidFill>
                  <a:srgbClr val="340A5E"/>
                </a:solidFill>
                <a:effectLst/>
                <a:latin typeface="-apple-system"/>
              </a:rPr>
              <a:t>Jiaotong</a:t>
            </a:r>
            <a:r>
              <a:rPr lang="en-GB" altLang="zh-CN" sz="1300" b="0" i="0" dirty="0">
                <a:solidFill>
                  <a:srgbClr val="340A5E"/>
                </a:solidFill>
                <a:effectLst/>
                <a:latin typeface="-apple-system"/>
              </a:rPr>
              <a:t>-Liverpool University (XJTLU), this is especially limiting because the university’s </a:t>
            </a:r>
            <a:r>
              <a:rPr lang="en-GB" altLang="zh-CN" sz="1300" b="1" i="0" dirty="0">
                <a:solidFill>
                  <a:srgbClr val="340A5E"/>
                </a:solidFill>
                <a:effectLst/>
                <a:latin typeface="-apple-system"/>
              </a:rPr>
              <a:t>student-centered philosophy</a:t>
            </a:r>
            <a:r>
              <a:rPr lang="en-GB" altLang="zh-CN" sz="1300" b="0" i="0" dirty="0">
                <a:solidFill>
                  <a:srgbClr val="340A5E"/>
                </a:solidFill>
                <a:effectLst/>
                <a:latin typeface="-apple-system"/>
              </a:rPr>
              <a:t> is better understood through </a:t>
            </a:r>
            <a:r>
              <a:rPr lang="en-GB" altLang="zh-CN" sz="1300" b="1" i="0" dirty="0">
                <a:solidFill>
                  <a:srgbClr val="340A5E"/>
                </a:solidFill>
                <a:effectLst/>
                <a:latin typeface="-apple-system"/>
              </a:rPr>
              <a:t>movement, interaction, and experience</a:t>
            </a:r>
            <a:r>
              <a:rPr lang="en-GB" altLang="zh-CN" sz="1300" b="0" i="0" dirty="0">
                <a:solidFill>
                  <a:srgbClr val="340A5E"/>
                </a:solidFill>
                <a:effectLst/>
                <a:latin typeface="-apple-system"/>
              </a:rPr>
              <a:t>. Although existing </a:t>
            </a:r>
            <a:r>
              <a:rPr lang="en-GB" altLang="zh-CN" sz="1300" b="1" i="0" dirty="0">
                <a:solidFill>
                  <a:srgbClr val="340A5E"/>
                </a:solidFill>
                <a:effectLst/>
                <a:latin typeface="-apple-system"/>
              </a:rPr>
              <a:t>academic and commercial solutions</a:t>
            </a:r>
            <a:r>
              <a:rPr lang="en-GB" altLang="zh-CN" sz="1300" b="0" i="0" dirty="0">
                <a:solidFill>
                  <a:srgbClr val="340A5E"/>
                </a:solidFill>
                <a:effectLst/>
                <a:latin typeface="-apple-system"/>
              </a:rPr>
              <a:t> have explored </a:t>
            </a:r>
            <a:r>
              <a:rPr lang="en-GB" altLang="zh-CN" sz="1300" b="1" i="0" dirty="0">
                <a:solidFill>
                  <a:srgbClr val="340A5E"/>
                </a:solidFill>
                <a:effectLst/>
                <a:latin typeface="-apple-system"/>
              </a:rPr>
              <a:t>location-based</a:t>
            </a:r>
            <a:r>
              <a:rPr lang="en-GB" altLang="zh-CN" sz="1300" b="0" i="0" dirty="0">
                <a:solidFill>
                  <a:srgbClr val="340A5E"/>
                </a:solidFill>
                <a:effectLst/>
                <a:latin typeface="-apple-system"/>
              </a:rPr>
              <a:t> </a:t>
            </a:r>
            <a:r>
              <a:rPr lang="en-GB" altLang="zh-CN" sz="1300" b="1" i="0" dirty="0">
                <a:solidFill>
                  <a:srgbClr val="340A5E"/>
                </a:solidFill>
                <a:effectLst/>
                <a:latin typeface="-apple-system"/>
              </a:rPr>
              <a:t>AR</a:t>
            </a:r>
            <a:r>
              <a:rPr lang="en-GB" altLang="zh-CN" sz="1300" b="0" i="0" dirty="0">
                <a:solidFill>
                  <a:srgbClr val="340A5E"/>
                </a:solidFill>
                <a:effectLst/>
                <a:latin typeface="-apple-system"/>
              </a:rPr>
              <a:t>[1][2], </a:t>
            </a:r>
            <a:r>
              <a:rPr lang="en-GB" altLang="zh-CN" sz="1300" b="1" i="0" dirty="0">
                <a:solidFill>
                  <a:srgbClr val="340A5E"/>
                </a:solidFill>
                <a:effectLst/>
                <a:latin typeface="-apple-system"/>
              </a:rPr>
              <a:t>campus navigation</a:t>
            </a:r>
            <a:r>
              <a:rPr lang="en-GB" altLang="zh-CN" sz="1300" b="0" i="0" dirty="0">
                <a:solidFill>
                  <a:srgbClr val="340A5E"/>
                </a:solidFill>
                <a:effectLst/>
                <a:latin typeface="-apple-system"/>
              </a:rPr>
              <a:t>[3], and </a:t>
            </a:r>
            <a:r>
              <a:rPr lang="en-GB" altLang="zh-CN" sz="1300" b="1" i="0" dirty="0">
                <a:solidFill>
                  <a:srgbClr val="340A5E"/>
                </a:solidFill>
                <a:effectLst/>
                <a:latin typeface="-apple-system"/>
              </a:rPr>
              <a:t>playful interaction</a:t>
            </a:r>
            <a:r>
              <a:rPr lang="en-GB" altLang="zh-CN" sz="1300" b="0" i="0" dirty="0">
                <a:solidFill>
                  <a:srgbClr val="340A5E"/>
                </a:solidFill>
                <a:effectLst/>
                <a:latin typeface="-apple-system"/>
              </a:rPr>
              <a:t>[4], they often fail to combine </a:t>
            </a:r>
            <a:r>
              <a:rPr lang="en-GB" altLang="zh-CN" sz="1300" b="1" i="0" dirty="0">
                <a:solidFill>
                  <a:srgbClr val="340A5E"/>
                </a:solidFill>
                <a:effectLst/>
                <a:latin typeface="-apple-system"/>
              </a:rPr>
              <a:t>practical guidance, meaningful place-based learning, and user engagement</a:t>
            </a:r>
            <a:r>
              <a:rPr lang="en-GB" altLang="zh-CN" sz="1300" b="0" i="0" dirty="0">
                <a:solidFill>
                  <a:srgbClr val="340A5E"/>
                </a:solidFill>
                <a:effectLst/>
                <a:latin typeface="-apple-system"/>
              </a:rPr>
              <a:t> in one coherent experience. In response, this project proposes </a:t>
            </a:r>
            <a:r>
              <a:rPr lang="en-GB" altLang="zh-CN" sz="1600" b="1" i="1" dirty="0" err="1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  <a:effectLst/>
                <a:latin typeface="-apple-system"/>
              </a:rPr>
              <a:t>X·EasyGo</a:t>
            </a:r>
            <a:r>
              <a:rPr lang="en-GB" altLang="zh-CN" sz="1300" b="0" i="0" dirty="0">
                <a:solidFill>
                  <a:srgbClr val="340A5E"/>
                </a:solidFill>
                <a:effectLst/>
                <a:latin typeface="-apple-system"/>
              </a:rPr>
              <a:t>, an </a:t>
            </a:r>
            <a:r>
              <a:rPr lang="en-GB" altLang="zh-CN" sz="1300" b="1" i="0" dirty="0">
                <a:solidFill>
                  <a:srgbClr val="340A5E"/>
                </a:solidFill>
                <a:effectLst/>
                <a:latin typeface="-apple-system"/>
              </a:rPr>
              <a:t>AR-supported campus tour system</a:t>
            </a:r>
            <a:r>
              <a:rPr lang="en-GB" altLang="zh-CN" sz="1300" b="0" i="0" dirty="0">
                <a:solidFill>
                  <a:srgbClr val="340A5E"/>
                </a:solidFill>
                <a:effectLst/>
                <a:latin typeface="-apple-system"/>
              </a:rPr>
              <a:t> designed for both </a:t>
            </a:r>
            <a:r>
              <a:rPr lang="en-GB" altLang="zh-CN" sz="1300" b="1" i="0" dirty="0">
                <a:solidFill>
                  <a:srgbClr val="340A5E"/>
                </a:solidFill>
                <a:effectLst/>
                <a:latin typeface="-apple-system"/>
              </a:rPr>
              <a:t>students and visitors</a:t>
            </a:r>
            <a:r>
              <a:rPr lang="en-GB" altLang="zh-CN" sz="1300" b="0" i="0" dirty="0">
                <a:solidFill>
                  <a:srgbClr val="340A5E"/>
                </a:solidFill>
                <a:effectLst/>
                <a:latin typeface="-apple-system"/>
              </a:rPr>
              <a:t>. It aims to provide </a:t>
            </a:r>
            <a:r>
              <a:rPr lang="en-GB" altLang="zh-CN" sz="1300" b="1" i="0" dirty="0">
                <a:solidFill>
                  <a:srgbClr val="340A5E"/>
                </a:solidFill>
                <a:effectLst/>
                <a:latin typeface="-apple-system"/>
              </a:rPr>
              <a:t>clear route-first navigation, role-specific landmark content, and lightweight interactive features</a:t>
            </a:r>
            <a:r>
              <a:rPr lang="en-GB" altLang="zh-CN" sz="1300" b="0" i="0" dirty="0">
                <a:solidFill>
                  <a:srgbClr val="340A5E"/>
                </a:solidFill>
                <a:effectLst/>
                <a:latin typeface="-apple-system"/>
              </a:rPr>
              <a:t> to make campus exploration more </a:t>
            </a:r>
            <a:r>
              <a:rPr lang="en-GB" altLang="zh-CN" sz="1300" b="1" i="0" dirty="0">
                <a:solidFill>
                  <a:srgbClr val="340A5E"/>
                </a:solidFill>
                <a:effectLst/>
                <a:latin typeface="-apple-system"/>
              </a:rPr>
              <a:t>intuitive, engaging, and reflective</a:t>
            </a:r>
            <a:r>
              <a:rPr lang="en-GB" altLang="zh-CN" sz="1300" b="0" i="0" dirty="0">
                <a:solidFill>
                  <a:srgbClr val="340A5E"/>
                </a:solidFill>
                <a:effectLst/>
                <a:latin typeface="-apple-system"/>
              </a:rPr>
              <a:t> of XJTLU’s </a:t>
            </a:r>
            <a:r>
              <a:rPr lang="en-GB" altLang="zh-CN" sz="1300" b="1" i="0" dirty="0">
                <a:solidFill>
                  <a:srgbClr val="340A5E"/>
                </a:solidFill>
                <a:effectLst/>
                <a:latin typeface="-apple-system"/>
              </a:rPr>
              <a:t>educational identity.</a:t>
            </a:r>
            <a:endParaRPr lang="en-US" altLang="zh-CN" sz="1300" b="1" dirty="0">
              <a:solidFill>
                <a:srgbClr val="340A5E"/>
              </a:solidFill>
              <a:latin typeface="Tahoma" panose="020B0604030504040204" charset="0"/>
              <a:cs typeface="Tahoma" panose="020B0604030504040204" charset="0"/>
              <a:sym typeface="+mn-ea"/>
            </a:endParaRPr>
          </a:p>
          <a:p>
            <a:pPr lvl="0" defTabSz="3600450">
              <a:spcBef>
                <a:spcPct val="0"/>
              </a:spcBef>
            </a:pPr>
            <a:endParaRPr lang="en-US" altLang="zh-CN" sz="1300" b="1" dirty="0">
              <a:solidFill>
                <a:srgbClr val="340A5E"/>
              </a:solidFill>
              <a:latin typeface="Tahoma" panose="020B0604030504040204" charset="0"/>
              <a:cs typeface="Tahoma" panose="020B0604030504040204" charset="0"/>
              <a:sym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91949" y="3791349"/>
            <a:ext cx="12479391" cy="6647761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155575" y="5900420"/>
            <a:ext cx="7586980" cy="662305"/>
          </a:xfrm>
          <a:prstGeom prst="rect">
            <a:avLst/>
          </a:prstGeom>
          <a:solidFill>
            <a:srgbClr val="D0CAD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890" dirty="0"/>
          </a:p>
        </p:txBody>
      </p:sp>
      <p:sp>
        <p:nvSpPr>
          <p:cNvPr id="16" name="文本框 15"/>
          <p:cNvSpPr txBox="1"/>
          <p:nvPr/>
        </p:nvSpPr>
        <p:spPr>
          <a:xfrm>
            <a:off x="1849755" y="5900420"/>
            <a:ext cx="5225415" cy="6356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7305" marR="0" lvl="0" indent="0" fontAlgn="auto">
              <a:lnSpc>
                <a:spcPct val="100000"/>
              </a:lnSpc>
              <a:spcBef>
                <a:spcPts val="195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altLang="zh-CN" sz="3535" b="1" spc="-32" dirty="0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  <a:latin typeface="Times New Roman Bold" panose="02020603050405020304" charset="0"/>
                <a:ea typeface="微软雅黑" panose="020B0503020204020204" charset="-122"/>
              </a:rPr>
              <a:t>Requirement Gathering</a:t>
            </a:r>
          </a:p>
        </p:txBody>
      </p:sp>
      <p:sp>
        <p:nvSpPr>
          <p:cNvPr id="32" name="矩形 31"/>
          <p:cNvSpPr/>
          <p:nvPr/>
        </p:nvSpPr>
        <p:spPr>
          <a:xfrm>
            <a:off x="7854315" y="25774015"/>
            <a:ext cx="13349605" cy="603885"/>
          </a:xfrm>
          <a:prstGeom prst="rect">
            <a:avLst/>
          </a:prstGeom>
          <a:solidFill>
            <a:srgbClr val="D0CAD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lvl="0" indent="0" algn="ctr">
              <a:spcBef>
                <a:spcPct val="50000"/>
              </a:spcBef>
              <a:buNone/>
            </a:pPr>
            <a:r>
              <a:rPr lang="en-US" altLang="zh-CN" sz="3820" b="1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</a:p>
        </p:txBody>
      </p:sp>
      <p:sp>
        <p:nvSpPr>
          <p:cNvPr id="33" name="文本框 32"/>
          <p:cNvSpPr txBox="1"/>
          <p:nvPr/>
        </p:nvSpPr>
        <p:spPr>
          <a:xfrm>
            <a:off x="12424005" y="17092944"/>
            <a:ext cx="4362700" cy="6801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0" lang="en-US" altLang="zh-CN" sz="3820" b="1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  <a:effectLst/>
                <a:uLnTx/>
                <a:uFillTx/>
                <a:latin typeface="Times New Roman" panose="02020603050405020304" charset="0"/>
                <a:ea typeface="宋体" pitchFamily="2" charset="-122"/>
                <a:cs typeface="Times New Roman" panose="02020603050405020304" charset="0"/>
                <a:sym typeface="+mn-ea"/>
              </a:rPr>
              <a:t>Evaluation</a:t>
            </a:r>
            <a:r>
              <a:rPr kumimoji="0" lang="zh-CN" altLang="en-US" sz="3820" b="1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  <a:effectLst/>
                <a:uLnTx/>
                <a:uFillTx/>
                <a:latin typeface="Times New Roman" panose="02020603050405020304" charset="0"/>
                <a:ea typeface="宋体" pitchFamily="2" charset="-122"/>
                <a:cs typeface="Times New Roman" panose="02020603050405020304" charset="0"/>
                <a:sym typeface="+mn-ea"/>
              </a:rPr>
              <a:t> </a:t>
            </a:r>
            <a:r>
              <a:rPr kumimoji="0" lang="en-US" altLang="zh-CN" sz="3820" b="1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  <a:effectLst/>
                <a:uLnTx/>
                <a:uFillTx/>
                <a:latin typeface="Times New Roman" panose="02020603050405020304" charset="0"/>
                <a:ea typeface="宋体" pitchFamily="2" charset="-122"/>
                <a:cs typeface="Times New Roman" panose="02020603050405020304" charset="0"/>
                <a:sym typeface="+mn-ea"/>
              </a:rPr>
              <a:t>Results</a:t>
            </a:r>
          </a:p>
        </p:txBody>
      </p:sp>
      <p:sp>
        <p:nvSpPr>
          <p:cNvPr id="35" name="文本框 34"/>
          <p:cNvSpPr txBox="1"/>
          <p:nvPr/>
        </p:nvSpPr>
        <p:spPr>
          <a:xfrm>
            <a:off x="12911805" y="25693487"/>
            <a:ext cx="4496263" cy="6801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3820" b="1" dirty="0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  <a:latin typeface="Times New Roman" panose="02020603050405020304" charset="0"/>
                <a:ea typeface="宋体" pitchFamily="2" charset="-122"/>
                <a:cs typeface="Times New Roman" panose="02020603050405020304" charset="0"/>
                <a:sym typeface="+mn-ea"/>
              </a:rPr>
              <a:t>Conclusion</a:t>
            </a:r>
            <a:endParaRPr kumimoji="1" lang="en-US" altLang="zh-CN" sz="3820" b="1" i="0" u="none" strike="noStrike" kern="1200" cap="none" spc="0" normalizeH="0" baseline="0" noProof="0" dirty="0">
              <a:ln>
                <a:noFill/>
              </a:ln>
              <a:gradFill>
                <a:gsLst>
                  <a:gs pos="0">
                    <a:srgbClr val="7B32B2"/>
                  </a:gs>
                  <a:gs pos="100000">
                    <a:srgbClr val="401A5D"/>
                  </a:gs>
                </a:gsLst>
                <a:lin scaled="0"/>
              </a:gradFill>
              <a:effectLst/>
              <a:uLnTx/>
              <a:uFillTx/>
              <a:latin typeface="Times New Roman" panose="02020603050405020304" charset="0"/>
              <a:ea typeface="宋体" pitchFamily="2" charset="-122"/>
              <a:cs typeface="Times New Roman" panose="02020603050405020304" charset="0"/>
              <a:sym typeface="+mn-ea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7887223" y="26373619"/>
            <a:ext cx="13344525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altLang="zh-CN" sz="1400" dirty="0">
                <a:solidFill>
                  <a:srgbClr val="340A5E"/>
                </a:solidFill>
              </a:rPr>
              <a:t>Results suggest that </a:t>
            </a:r>
            <a:r>
              <a:rPr lang="en-GB" altLang="zh-CN" sz="1400" dirty="0" err="1">
                <a:solidFill>
                  <a:srgbClr val="340A5E"/>
                </a:solidFill>
              </a:rPr>
              <a:t>X·EasyGo</a:t>
            </a:r>
            <a:r>
              <a:rPr lang="en-GB" altLang="zh-CN" sz="1400" dirty="0">
                <a:solidFill>
                  <a:srgbClr val="340A5E"/>
                </a:solidFill>
              </a:rPr>
              <a:t> </a:t>
            </a:r>
            <a:r>
              <a:rPr lang="en-GB" altLang="zh-CN" sz="1400" b="1" dirty="0">
                <a:solidFill>
                  <a:srgbClr val="340A5E"/>
                </a:solidFill>
              </a:rPr>
              <a:t>improves campus exploration</a:t>
            </a:r>
            <a:r>
              <a:rPr lang="en-GB" altLang="zh-CN" sz="1400" dirty="0">
                <a:solidFill>
                  <a:srgbClr val="340A5E"/>
                </a:solidFill>
              </a:rPr>
              <a:t> by combining </a:t>
            </a:r>
            <a:r>
              <a:rPr lang="en-GB" altLang="zh-CN" sz="1400" b="1" dirty="0">
                <a:solidFill>
                  <a:srgbClr val="340A5E"/>
                </a:solidFill>
              </a:rPr>
              <a:t>clear guidance, role-specific content, and interactive AR features</a:t>
            </a:r>
            <a:r>
              <a:rPr lang="en-GB" altLang="zh-CN" sz="1400" dirty="0">
                <a:solidFill>
                  <a:srgbClr val="340A5E"/>
                </a:solidFill>
              </a:rPr>
              <a:t> in a more </a:t>
            </a:r>
            <a:r>
              <a:rPr lang="en-GB" altLang="zh-CN" sz="1400" b="1" dirty="0">
                <a:solidFill>
                  <a:srgbClr val="340A5E"/>
                </a:solidFill>
              </a:rPr>
              <a:t>engaging and user-</a:t>
            </a:r>
            <a:r>
              <a:rPr lang="en-GB" altLang="zh-CN" sz="1400" b="1" dirty="0" err="1">
                <a:solidFill>
                  <a:srgbClr val="340A5E"/>
                </a:solidFill>
              </a:rPr>
              <a:t>centred</a:t>
            </a:r>
            <a:r>
              <a:rPr lang="en-GB" altLang="zh-CN" sz="1400" b="1" dirty="0">
                <a:solidFill>
                  <a:srgbClr val="340A5E"/>
                </a:solidFill>
              </a:rPr>
              <a:t> way</a:t>
            </a:r>
            <a:r>
              <a:rPr lang="en-GB" altLang="zh-CN" sz="1400" dirty="0">
                <a:solidFill>
                  <a:srgbClr val="340A5E"/>
                </a:solidFill>
              </a:rPr>
              <a:t>.</a:t>
            </a:r>
          </a:p>
          <a:p>
            <a:br>
              <a:rPr lang="en-GB" altLang="zh-CN" dirty="0">
                <a:effectLst/>
              </a:rPr>
            </a:br>
            <a:endParaRPr lang="en-GB" altLang="zh-CN" dirty="0">
              <a:effectLst/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459023" y="16286196"/>
            <a:ext cx="6886243" cy="20916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GB" altLang="zh-CN" sz="1400" dirty="0">
                <a:solidFill>
                  <a:srgbClr val="340A5E"/>
                </a:solidFill>
              </a:rPr>
              <a:t>Our investigation (n = 51) reveals that </a:t>
            </a:r>
            <a:r>
              <a:rPr lang="en-GB" altLang="zh-CN" sz="1400" b="1" i="1" dirty="0">
                <a:solidFill>
                  <a:srgbClr val="340A5E"/>
                </a:solidFill>
              </a:rPr>
              <a:t>82.35%</a:t>
            </a:r>
            <a:r>
              <a:rPr lang="en-GB" altLang="zh-CN" sz="1400" dirty="0">
                <a:solidFill>
                  <a:srgbClr val="340A5E"/>
                </a:solidFill>
              </a:rPr>
              <a:t> of participants have never used existing campus tour services (Fig. 1), while approximately </a:t>
            </a:r>
            <a:r>
              <a:rPr lang="en-GB" altLang="zh-CN" sz="1400" b="1" i="1" dirty="0">
                <a:solidFill>
                  <a:srgbClr val="340A5E"/>
                </a:solidFill>
              </a:rPr>
              <a:t>66.66% </a:t>
            </a:r>
            <a:r>
              <a:rPr lang="en-GB" altLang="zh-CN" sz="1400" dirty="0">
                <a:solidFill>
                  <a:srgbClr val="340A5E"/>
                </a:solidFill>
              </a:rPr>
              <a:t>expressed a willingness to use such a product to assist them in exploring the campus (Fig. 2).</a:t>
            </a:r>
            <a:r>
              <a:rPr lang="zh-CN" altLang="en-US" sz="1400" dirty="0">
                <a:solidFill>
                  <a:srgbClr val="340A5E"/>
                </a:solidFill>
              </a:rPr>
              <a:t> </a:t>
            </a:r>
            <a:r>
              <a:rPr lang="en-GB" altLang="zh-CN" sz="1400" dirty="0">
                <a:solidFill>
                  <a:srgbClr val="340A5E"/>
                </a:solidFill>
              </a:rPr>
              <a:t>Furthermore, the survey indicates that </a:t>
            </a:r>
            <a:r>
              <a:rPr lang="en-GB" altLang="zh-CN" sz="1400" b="1" dirty="0">
                <a:solidFill>
                  <a:srgbClr val="340A5E"/>
                </a:solidFill>
              </a:rPr>
              <a:t>most participants prefer VR panoramic tours</a:t>
            </a:r>
            <a:r>
              <a:rPr lang="en-GB" altLang="zh-CN" sz="1400" dirty="0">
                <a:solidFill>
                  <a:srgbClr val="340A5E"/>
                </a:solidFill>
              </a:rPr>
              <a:t> as their preferred campus tour format (Fig. 3).</a:t>
            </a:r>
            <a:r>
              <a:rPr lang="zh-CN" altLang="en-US" sz="1400" dirty="0">
                <a:solidFill>
                  <a:srgbClr val="340A5E"/>
                </a:solidFill>
              </a:rPr>
              <a:t> </a:t>
            </a:r>
            <a:r>
              <a:rPr lang="en-GB" altLang="zh-CN" sz="1400" dirty="0">
                <a:solidFill>
                  <a:srgbClr val="340A5E"/>
                </a:solidFill>
              </a:rPr>
              <a:t>In addition, participants expressed a strong expectation for </a:t>
            </a:r>
            <a:r>
              <a:rPr lang="en-GB" altLang="zh-CN" sz="1400" b="1" dirty="0">
                <a:solidFill>
                  <a:srgbClr val="340A5E"/>
                </a:solidFill>
              </a:rPr>
              <a:t>role-specific content, enhanced interactive engagement, and opportunities </a:t>
            </a:r>
            <a:r>
              <a:rPr lang="en-GB" altLang="zh-CN" sz="1400" dirty="0">
                <a:solidFill>
                  <a:srgbClr val="340A5E"/>
                </a:solidFill>
              </a:rPr>
              <a:t>for peer connection (Fig. 5).</a:t>
            </a:r>
            <a:endParaRPr lang="en-US" altLang="zh-CN" sz="1400" dirty="0">
              <a:solidFill>
                <a:srgbClr val="340A5E"/>
              </a:solidFill>
            </a:endParaRPr>
          </a:p>
          <a:p>
            <a:r>
              <a:rPr lang="en-US" altLang="zh-CN" sz="1400" dirty="0">
                <a:solidFill>
                  <a:srgbClr val="340A5E"/>
                </a:solidFill>
              </a:rPr>
              <a:t>Then we make the </a:t>
            </a:r>
            <a:r>
              <a:rPr lang="en-GB" altLang="zh-CN" sz="1400" dirty="0">
                <a:solidFill>
                  <a:srgbClr val="340A5E"/>
                </a:solidFill>
              </a:rPr>
              <a:t>the </a:t>
            </a:r>
            <a:r>
              <a:rPr lang="en-GB" altLang="zh-CN" b="1" i="1" dirty="0">
                <a:solidFill>
                  <a:srgbClr val="340A5E"/>
                </a:solidFill>
              </a:rPr>
              <a:t>persona</a:t>
            </a:r>
            <a:r>
              <a:rPr lang="en-GB" altLang="zh-CN" sz="1400" dirty="0">
                <a:solidFill>
                  <a:srgbClr val="340A5E"/>
                </a:solidFill>
              </a:rPr>
              <a:t> shown in Figure 6.</a:t>
            </a:r>
          </a:p>
          <a:p>
            <a:pPr algn="just"/>
            <a:endParaRPr lang="en-GB" altLang="zh-CN" sz="1400" dirty="0">
              <a:solidFill>
                <a:srgbClr val="340A5E"/>
              </a:solidFill>
            </a:endParaRPr>
          </a:p>
        </p:txBody>
      </p:sp>
      <p:sp>
        <p:nvSpPr>
          <p:cNvPr id="48" name="文本框 47"/>
          <p:cNvSpPr txBox="1"/>
          <p:nvPr/>
        </p:nvSpPr>
        <p:spPr>
          <a:xfrm>
            <a:off x="8107956" y="18379024"/>
            <a:ext cx="5950436" cy="29854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b="1" i="1" dirty="0">
                <a:solidFill>
                  <a:srgbClr val="340A5E"/>
                </a:solidFill>
              </a:rPr>
              <a:t>A/B Testing</a:t>
            </a:r>
          </a:p>
          <a:p>
            <a:pPr defTabSz="3600450">
              <a:spcBef>
                <a:spcPct val="0"/>
              </a:spcBef>
            </a:pPr>
            <a:r>
              <a:rPr lang="en-GB" altLang="zh-CN" sz="1400" dirty="0">
                <a:solidFill>
                  <a:srgbClr val="340A5E"/>
                </a:solidFill>
                <a:latin typeface="Tahoma" panose="020B0604030504040204" charset="0"/>
                <a:cs typeface="Tahoma" panose="020B0604030504040204" charset="0"/>
              </a:rPr>
              <a:t>Participants (n = 10) were divided into two groups to conduct an A/B test comparing two approaches to stamp collection:</a:t>
            </a:r>
          </a:p>
          <a:p>
            <a:pPr marL="285750" indent="-285750" defTabSz="3600450"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lang="en-GB" altLang="zh-CN" sz="1400" b="1" dirty="0">
                <a:solidFill>
                  <a:srgbClr val="340A5E"/>
                </a:solidFill>
                <a:latin typeface="Tahoma" panose="020B0604030504040204" charset="0"/>
                <a:cs typeface="Tahoma" panose="020B0604030504040204" charset="0"/>
              </a:rPr>
              <a:t>Prototype A</a:t>
            </a:r>
            <a:r>
              <a:rPr lang="en-US" altLang="zh-CN" sz="1400" b="1" dirty="0">
                <a:solidFill>
                  <a:srgbClr val="340A5E"/>
                </a:solidFill>
                <a:latin typeface="Tahoma" panose="020B0604030504040204" charset="0"/>
                <a:cs typeface="Tahoma" panose="020B0604030504040204" charset="0"/>
              </a:rPr>
              <a:t>: </a:t>
            </a:r>
            <a:r>
              <a:rPr lang="en-GB" altLang="zh-CN" sz="1400" dirty="0">
                <a:solidFill>
                  <a:srgbClr val="340A5E"/>
                </a:solidFill>
              </a:rPr>
              <a:t>Users automatically receive a stamp when the location system detects that they are near a building.</a:t>
            </a:r>
            <a:endParaRPr lang="en-GB" altLang="zh-CN" sz="1400" dirty="0">
              <a:solidFill>
                <a:srgbClr val="340A5E"/>
              </a:solidFill>
              <a:latin typeface="Tahoma" panose="020B0604030504040204" charset="0"/>
              <a:cs typeface="Tahoma" panose="020B0604030504040204" charset="0"/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en-GB" altLang="zh-CN" sz="1400" b="1" dirty="0">
                <a:solidFill>
                  <a:srgbClr val="340A5E"/>
                </a:solidFill>
                <a:latin typeface="Tahoma" panose="020B0604030504040204" charset="0"/>
                <a:cs typeface="Tahoma" panose="020B0604030504040204" charset="0"/>
              </a:rPr>
              <a:t>Prototype B: </a:t>
            </a:r>
            <a:r>
              <a:rPr lang="en-GB" altLang="zh-CN" sz="1400" dirty="0">
                <a:solidFill>
                  <a:srgbClr val="340A5E"/>
                </a:solidFill>
              </a:rPr>
              <a:t>Users must scan the signboard outside the building to obtain a stamp. </a:t>
            </a:r>
          </a:p>
          <a:p>
            <a:pPr marL="285750" indent="-285750">
              <a:buFont typeface="Wingdings" panose="05000000000000000000" pitchFamily="2" charset="2"/>
              <a:buChar char="l"/>
            </a:pPr>
            <a:endParaRPr lang="en-US" altLang="zh-CN" sz="1400" dirty="0">
              <a:latin typeface="Tahoma" panose="020B0604030504040204" charset="0"/>
              <a:cs typeface="Tahoma" panose="020B0604030504040204" charset="0"/>
            </a:endParaRPr>
          </a:p>
          <a:p>
            <a:endParaRPr kumimoji="1" lang="en-US" altLang="zh-CN" dirty="0"/>
          </a:p>
          <a:p>
            <a:endParaRPr kumimoji="1" lang="en-US" altLang="zh-CN" dirty="0"/>
          </a:p>
          <a:p>
            <a:endParaRPr kumimoji="1" lang="en-US" altLang="zh-CN" dirty="0"/>
          </a:p>
          <a:p>
            <a:endParaRPr kumimoji="1" lang="zh-CN" altLang="en-US" dirty="0"/>
          </a:p>
        </p:txBody>
      </p:sp>
      <p:graphicFrame>
        <p:nvGraphicFramePr>
          <p:cNvPr id="52" name="图表 51"/>
          <p:cNvGraphicFramePr/>
          <p:nvPr/>
        </p:nvGraphicFramePr>
        <p:xfrm>
          <a:off x="340677" y="9977900"/>
          <a:ext cx="7322339" cy="349544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cxnSp>
        <p:nvCxnSpPr>
          <p:cNvPr id="57" name="直线连接符 56"/>
          <p:cNvCxnSpPr/>
          <p:nvPr/>
        </p:nvCxnSpPr>
        <p:spPr>
          <a:xfrm>
            <a:off x="14121414" y="17828478"/>
            <a:ext cx="48542" cy="7945577"/>
          </a:xfrm>
          <a:prstGeom prst="line">
            <a:avLst/>
          </a:prstGeom>
          <a:ln w="25400">
            <a:solidFill>
              <a:srgbClr val="955FB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2324" name="文本框 282323"/>
          <p:cNvSpPr txBox="1"/>
          <p:nvPr/>
        </p:nvSpPr>
        <p:spPr>
          <a:xfrm>
            <a:off x="4338320" y="9589770"/>
            <a:ext cx="273621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000" b="1" i="1" dirty="0">
                <a:solidFill>
                  <a:srgbClr val="340A5E"/>
                </a:solidFill>
              </a:rPr>
              <a:t>Fig</a:t>
            </a:r>
            <a:r>
              <a:rPr kumimoji="1" lang="zh-CN" altLang="en-US" sz="1000" b="1" i="1" dirty="0">
                <a:solidFill>
                  <a:srgbClr val="340A5E"/>
                </a:solidFill>
              </a:rPr>
              <a:t> </a:t>
            </a:r>
            <a:r>
              <a:rPr kumimoji="1" lang="en-US" altLang="zh-CN" sz="1000" b="1" i="1" dirty="0">
                <a:solidFill>
                  <a:srgbClr val="340A5E"/>
                </a:solidFill>
              </a:rPr>
              <a:t>2.</a:t>
            </a:r>
            <a:r>
              <a:rPr kumimoji="1" lang="zh-CN" altLang="en-US" sz="1000" b="1" i="1" dirty="0">
                <a:solidFill>
                  <a:srgbClr val="340A5E"/>
                </a:solidFill>
              </a:rPr>
              <a:t> </a:t>
            </a:r>
            <a:r>
              <a:rPr kumimoji="1" lang="en-US" altLang="zh-CN" sz="1000" b="1" i="1" dirty="0">
                <a:solidFill>
                  <a:srgbClr val="340A5E"/>
                </a:solidFill>
              </a:rPr>
              <a:t>Attitude</a:t>
            </a:r>
            <a:r>
              <a:rPr kumimoji="1" lang="zh-CN" altLang="en-US" sz="1000" b="1" i="1" dirty="0">
                <a:solidFill>
                  <a:srgbClr val="340A5E"/>
                </a:solidFill>
              </a:rPr>
              <a:t> </a:t>
            </a:r>
            <a:r>
              <a:rPr kumimoji="1" lang="en-US" altLang="zh-CN" sz="1000" b="1" i="1" dirty="0">
                <a:solidFill>
                  <a:srgbClr val="340A5E"/>
                </a:solidFill>
              </a:rPr>
              <a:t>to the new tour product</a:t>
            </a:r>
          </a:p>
        </p:txBody>
      </p:sp>
      <p:sp>
        <p:nvSpPr>
          <p:cNvPr id="282325" name="文本框 282324"/>
          <p:cNvSpPr txBox="1"/>
          <p:nvPr/>
        </p:nvSpPr>
        <p:spPr>
          <a:xfrm>
            <a:off x="850900" y="9589770"/>
            <a:ext cx="283464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000" b="1" i="1" dirty="0">
                <a:solidFill>
                  <a:srgbClr val="340A5E"/>
                </a:solidFill>
              </a:rPr>
              <a:t>Fig</a:t>
            </a:r>
            <a:r>
              <a:rPr kumimoji="1" lang="zh-CN" altLang="en-US" sz="1000" b="1" i="1" dirty="0">
                <a:solidFill>
                  <a:srgbClr val="340A5E"/>
                </a:solidFill>
              </a:rPr>
              <a:t> </a:t>
            </a:r>
            <a:r>
              <a:rPr kumimoji="1" lang="en-US" altLang="zh-CN" sz="1000" b="1" i="1" dirty="0">
                <a:solidFill>
                  <a:srgbClr val="340A5E"/>
                </a:solidFill>
              </a:rPr>
              <a:t>1.</a:t>
            </a:r>
            <a:r>
              <a:rPr kumimoji="1" lang="zh-CN" altLang="en-US" sz="1000" b="1" i="1" dirty="0">
                <a:solidFill>
                  <a:srgbClr val="340A5E"/>
                </a:solidFill>
              </a:rPr>
              <a:t> </a:t>
            </a:r>
            <a:r>
              <a:rPr lang="en-GB" altLang="zh-CN" sz="1000" b="1" i="1" dirty="0">
                <a:solidFill>
                  <a:srgbClr val="340A5E"/>
                </a:solidFill>
              </a:rPr>
              <a:t>Prior Usage of Campus Tours</a:t>
            </a:r>
            <a:endParaRPr kumimoji="1" lang="en-GB" altLang="zh-CN" sz="1000" b="1" i="1" dirty="0">
              <a:solidFill>
                <a:srgbClr val="340A5E"/>
              </a:solidFill>
            </a:endParaRPr>
          </a:p>
        </p:txBody>
      </p:sp>
      <p:sp>
        <p:nvSpPr>
          <p:cNvPr id="282327" name="文本框 282326"/>
          <p:cNvSpPr txBox="1"/>
          <p:nvPr/>
        </p:nvSpPr>
        <p:spPr>
          <a:xfrm>
            <a:off x="1082675" y="16064230"/>
            <a:ext cx="306959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000" b="1" i="1" dirty="0">
                <a:solidFill>
                  <a:srgbClr val="340A5E"/>
                </a:solidFill>
              </a:rPr>
              <a:t>Fig</a:t>
            </a:r>
            <a:r>
              <a:rPr kumimoji="1" lang="zh-CN" altLang="en-US" sz="1000" b="1" i="1" dirty="0">
                <a:solidFill>
                  <a:srgbClr val="340A5E"/>
                </a:solidFill>
              </a:rPr>
              <a:t> </a:t>
            </a:r>
            <a:r>
              <a:rPr kumimoji="1" lang="en-US" altLang="zh-CN" sz="1000" b="1" i="1" dirty="0">
                <a:solidFill>
                  <a:srgbClr val="340A5E"/>
                </a:solidFill>
              </a:rPr>
              <a:t>4.</a:t>
            </a:r>
            <a:r>
              <a:rPr kumimoji="1" lang="zh-CN" altLang="en-US" sz="1000" b="1" i="1" dirty="0">
                <a:solidFill>
                  <a:srgbClr val="340A5E"/>
                </a:solidFill>
              </a:rPr>
              <a:t> </a:t>
            </a:r>
            <a:r>
              <a:rPr kumimoji="1" lang="en-US" altLang="zh-CN" sz="1000" b="1" i="1" dirty="0">
                <a:solidFill>
                  <a:srgbClr val="340A5E"/>
                </a:solidFill>
              </a:rPr>
              <a:t>Must-to-have functions and details </a:t>
            </a:r>
          </a:p>
          <a:p>
            <a:endParaRPr kumimoji="1" lang="en-US" altLang="zh-CN" sz="1000" b="1" i="1" dirty="0">
              <a:solidFill>
                <a:srgbClr val="340A5E"/>
              </a:solidFill>
            </a:endParaRPr>
          </a:p>
        </p:txBody>
      </p:sp>
      <p:sp>
        <p:nvSpPr>
          <p:cNvPr id="282328" name="文本框 282327"/>
          <p:cNvSpPr txBox="1"/>
          <p:nvPr/>
        </p:nvSpPr>
        <p:spPr>
          <a:xfrm>
            <a:off x="4987101" y="16060844"/>
            <a:ext cx="2602987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000" b="1" i="1" dirty="0">
                <a:solidFill>
                  <a:srgbClr val="340A5E"/>
                </a:solidFill>
              </a:rPr>
              <a:t>Fig</a:t>
            </a:r>
            <a:r>
              <a:rPr kumimoji="1" lang="zh-CN" altLang="en-US" sz="1000" b="1" i="1" dirty="0">
                <a:solidFill>
                  <a:srgbClr val="340A5E"/>
                </a:solidFill>
              </a:rPr>
              <a:t> </a:t>
            </a:r>
            <a:r>
              <a:rPr kumimoji="1" lang="en-US" altLang="zh-CN" sz="1000" b="1" i="1" dirty="0">
                <a:solidFill>
                  <a:srgbClr val="340A5E"/>
                </a:solidFill>
              </a:rPr>
              <a:t>5.</a:t>
            </a:r>
            <a:r>
              <a:rPr kumimoji="1" lang="zh-CN" altLang="en-US" sz="1000" b="1" i="1" dirty="0">
                <a:solidFill>
                  <a:srgbClr val="340A5E"/>
                </a:solidFill>
              </a:rPr>
              <a:t> </a:t>
            </a:r>
            <a:r>
              <a:rPr kumimoji="1" lang="en-GB" altLang="zh-CN" sz="1000" b="1" i="1" dirty="0">
                <a:solidFill>
                  <a:srgbClr val="340A5E"/>
                </a:solidFill>
              </a:rPr>
              <a:t>Functionality Recognition</a:t>
            </a:r>
          </a:p>
          <a:p>
            <a:endParaRPr kumimoji="1" lang="en-US" altLang="zh-CN" sz="1000" dirty="0"/>
          </a:p>
          <a:p>
            <a:endParaRPr kumimoji="1" lang="zh-CN" altLang="en-US" sz="1000" dirty="0"/>
          </a:p>
        </p:txBody>
      </p:sp>
      <p:pic>
        <p:nvPicPr>
          <p:cNvPr id="282329" name="图片 28232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88087" y="13705582"/>
            <a:ext cx="7529720" cy="2434633"/>
          </a:xfrm>
          <a:prstGeom prst="rect">
            <a:avLst/>
          </a:prstGeom>
        </p:spPr>
      </p:pic>
      <p:sp>
        <p:nvSpPr>
          <p:cNvPr id="282330" name="文本框 282329"/>
          <p:cNvSpPr txBox="1"/>
          <p:nvPr/>
        </p:nvSpPr>
        <p:spPr>
          <a:xfrm>
            <a:off x="2105025" y="13473430"/>
            <a:ext cx="4606290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000" b="1" i="1" dirty="0">
                <a:solidFill>
                  <a:srgbClr val="340A5E"/>
                </a:solidFill>
              </a:rPr>
              <a:t>Fig</a:t>
            </a:r>
            <a:r>
              <a:rPr kumimoji="1" lang="zh-CN" altLang="en-US" sz="1000" b="1" i="1" dirty="0">
                <a:solidFill>
                  <a:srgbClr val="340A5E"/>
                </a:solidFill>
              </a:rPr>
              <a:t> </a:t>
            </a:r>
            <a:r>
              <a:rPr kumimoji="1" lang="en-US" altLang="zh-CN" sz="1000" b="1" i="1" dirty="0">
                <a:solidFill>
                  <a:srgbClr val="340A5E"/>
                </a:solidFill>
              </a:rPr>
              <a:t>3.</a:t>
            </a:r>
            <a:r>
              <a:rPr kumimoji="1" lang="zh-CN" altLang="en-US" sz="1000" b="1" i="1" dirty="0">
                <a:solidFill>
                  <a:srgbClr val="340A5E"/>
                </a:solidFill>
              </a:rPr>
              <a:t> </a:t>
            </a:r>
            <a:r>
              <a:rPr lang="en-GB" altLang="zh-CN" sz="1000" b="1" i="1" dirty="0">
                <a:solidFill>
                  <a:srgbClr val="340A5E"/>
                </a:solidFill>
              </a:rPr>
              <a:t>User Preferences for Campus Tour Guide Formats</a:t>
            </a:r>
          </a:p>
          <a:p>
            <a:r>
              <a:rPr kumimoji="1" lang="en-US" altLang="zh-CN" sz="1000" dirty="0"/>
              <a:t> </a:t>
            </a:r>
          </a:p>
          <a:p>
            <a:endParaRPr kumimoji="1" lang="zh-CN" altLang="en-US" sz="1000" dirty="0"/>
          </a:p>
        </p:txBody>
      </p:sp>
      <p:sp>
        <p:nvSpPr>
          <p:cNvPr id="282331" name="文本框 282330"/>
          <p:cNvSpPr txBox="1"/>
          <p:nvPr/>
        </p:nvSpPr>
        <p:spPr>
          <a:xfrm>
            <a:off x="3356621" y="22180736"/>
            <a:ext cx="2602987" cy="4298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b="1" i="1" dirty="0">
                <a:solidFill>
                  <a:srgbClr val="340A5E"/>
                </a:solidFill>
              </a:rPr>
              <a:t>Fig</a:t>
            </a:r>
            <a:r>
              <a:rPr kumimoji="1" lang="zh-CN" altLang="en-US" sz="1200" b="1" i="1" dirty="0">
                <a:solidFill>
                  <a:srgbClr val="340A5E"/>
                </a:solidFill>
              </a:rPr>
              <a:t> </a:t>
            </a:r>
            <a:r>
              <a:rPr kumimoji="1" lang="en-US" altLang="zh-CN" sz="1200" b="1" i="1" dirty="0">
                <a:solidFill>
                  <a:srgbClr val="340A5E"/>
                </a:solidFill>
              </a:rPr>
              <a:t>6.</a:t>
            </a:r>
            <a:r>
              <a:rPr kumimoji="1" lang="zh-CN" altLang="en-US" sz="1200" b="1" i="1" dirty="0">
                <a:solidFill>
                  <a:srgbClr val="340A5E"/>
                </a:solidFill>
              </a:rPr>
              <a:t> </a:t>
            </a:r>
            <a:r>
              <a:rPr kumimoji="1" lang="en-US" altLang="zh-CN" sz="1200" b="1" i="1" dirty="0">
                <a:solidFill>
                  <a:srgbClr val="340A5E"/>
                </a:solidFill>
              </a:rPr>
              <a:t>Persona</a:t>
            </a:r>
            <a:r>
              <a:rPr kumimoji="1" lang="en-US" altLang="zh-CN" sz="1000" b="1" i="1" dirty="0">
                <a:solidFill>
                  <a:srgbClr val="340A5E"/>
                </a:solidFill>
              </a:rPr>
              <a:t> </a:t>
            </a:r>
            <a:endParaRPr kumimoji="1" lang="en-US" altLang="zh-CN" sz="1000" dirty="0"/>
          </a:p>
          <a:p>
            <a:endParaRPr kumimoji="1" lang="zh-CN" altLang="en-US" sz="1000" dirty="0"/>
          </a:p>
        </p:txBody>
      </p:sp>
      <p:sp>
        <p:nvSpPr>
          <p:cNvPr id="282332" name="文本框 282331"/>
          <p:cNvSpPr txBox="1"/>
          <p:nvPr/>
        </p:nvSpPr>
        <p:spPr>
          <a:xfrm>
            <a:off x="374197" y="22435457"/>
            <a:ext cx="7179228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altLang="zh-CN" sz="1400" dirty="0">
                <a:solidFill>
                  <a:srgbClr val="340A5E"/>
                </a:solidFill>
              </a:rPr>
              <a:t>The </a:t>
            </a:r>
            <a:r>
              <a:rPr lang="en-GB" altLang="zh-CN" b="1" i="1" dirty="0">
                <a:solidFill>
                  <a:srgbClr val="340A5E"/>
                </a:solidFill>
              </a:rPr>
              <a:t>user journey map</a:t>
            </a:r>
            <a:r>
              <a:rPr lang="en-GB" altLang="zh-CN" sz="1400" dirty="0">
                <a:solidFill>
                  <a:srgbClr val="340A5E"/>
                </a:solidFill>
              </a:rPr>
              <a:t> in Figure 7 illustrates how users interact with our system to address key </a:t>
            </a:r>
            <a:r>
              <a:rPr lang="en-GB" altLang="zh-CN" sz="1400" b="1" dirty="0">
                <a:solidFill>
                  <a:srgbClr val="340A5E"/>
                </a:solidFill>
              </a:rPr>
              <a:t>pain points</a:t>
            </a:r>
            <a:r>
              <a:rPr lang="en-GB" altLang="zh-CN" sz="1400" dirty="0">
                <a:solidFill>
                  <a:srgbClr val="340A5E"/>
                </a:solidFill>
              </a:rPr>
              <a:t>.</a:t>
            </a:r>
          </a:p>
        </p:txBody>
      </p:sp>
      <p:sp>
        <p:nvSpPr>
          <p:cNvPr id="282333" name="文本框 282332"/>
          <p:cNvSpPr txBox="1"/>
          <p:nvPr/>
        </p:nvSpPr>
        <p:spPr>
          <a:xfrm>
            <a:off x="3047661" y="29917171"/>
            <a:ext cx="2602987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000" b="1" i="1" dirty="0">
                <a:solidFill>
                  <a:srgbClr val="340A5E"/>
                </a:solidFill>
              </a:rPr>
              <a:t>Fig</a:t>
            </a:r>
            <a:r>
              <a:rPr kumimoji="1" lang="zh-CN" altLang="en-US" sz="1000" b="1" i="1" dirty="0">
                <a:solidFill>
                  <a:srgbClr val="340A5E"/>
                </a:solidFill>
              </a:rPr>
              <a:t> </a:t>
            </a:r>
            <a:r>
              <a:rPr kumimoji="1" lang="en-US" altLang="zh-CN" sz="1000" b="1" i="1" dirty="0">
                <a:solidFill>
                  <a:srgbClr val="340A5E"/>
                </a:solidFill>
              </a:rPr>
              <a:t>7.</a:t>
            </a:r>
            <a:r>
              <a:rPr kumimoji="1" lang="zh-CN" altLang="en-US" sz="1000" b="1" i="1" dirty="0">
                <a:solidFill>
                  <a:srgbClr val="340A5E"/>
                </a:solidFill>
              </a:rPr>
              <a:t> </a:t>
            </a:r>
            <a:r>
              <a:rPr kumimoji="1" lang="en-US" altLang="zh-CN" sz="1000" b="1" i="1" dirty="0">
                <a:solidFill>
                  <a:srgbClr val="340A5E"/>
                </a:solidFill>
              </a:rPr>
              <a:t>User Journey Map</a:t>
            </a:r>
            <a:r>
              <a:rPr kumimoji="1" lang="en-US" altLang="zh-CN" sz="1000" dirty="0"/>
              <a:t> </a:t>
            </a:r>
          </a:p>
          <a:p>
            <a:endParaRPr kumimoji="1" lang="zh-CN" altLang="en-US" sz="1000" dirty="0"/>
          </a:p>
        </p:txBody>
      </p:sp>
      <p:pic>
        <p:nvPicPr>
          <p:cNvPr id="20" name="图片 1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4959736" y="17808030"/>
            <a:ext cx="5272217" cy="2772640"/>
          </a:xfrm>
          <a:prstGeom prst="rect">
            <a:avLst/>
          </a:prstGeom>
        </p:spPr>
      </p:pic>
      <p:sp>
        <p:nvSpPr>
          <p:cNvPr id="22" name="文本框 21"/>
          <p:cNvSpPr txBox="1"/>
          <p:nvPr/>
        </p:nvSpPr>
        <p:spPr>
          <a:xfrm>
            <a:off x="15760132" y="20581242"/>
            <a:ext cx="4184542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GB" altLang="zh-CN" sz="1200" b="1" i="1" dirty="0">
                <a:solidFill>
                  <a:srgbClr val="340A5E"/>
                </a:solidFill>
              </a:rPr>
              <a:t>Fig</a:t>
            </a:r>
            <a:r>
              <a:rPr kumimoji="1" lang="zh-CN" altLang="en-US" sz="1200" b="1" i="1" dirty="0">
                <a:solidFill>
                  <a:srgbClr val="340A5E"/>
                </a:solidFill>
              </a:rPr>
              <a:t> </a:t>
            </a:r>
            <a:r>
              <a:rPr kumimoji="1" lang="en-US" altLang="zh-CN" sz="1200" b="1" i="1" dirty="0">
                <a:solidFill>
                  <a:srgbClr val="340A5E"/>
                </a:solidFill>
              </a:rPr>
              <a:t>11.</a:t>
            </a:r>
            <a:r>
              <a:rPr kumimoji="1" lang="zh-CN" altLang="en-US" sz="1200" b="1" i="1" dirty="0">
                <a:solidFill>
                  <a:srgbClr val="340A5E"/>
                </a:solidFill>
              </a:rPr>
              <a:t> </a:t>
            </a:r>
            <a:r>
              <a:rPr kumimoji="1" lang="en-GB" altLang="zh-CN" sz="1200" b="1" i="1" dirty="0">
                <a:solidFill>
                  <a:srgbClr val="340A5E"/>
                </a:solidFill>
              </a:rPr>
              <a:t>Key Factors Users Value in the Product</a:t>
            </a:r>
          </a:p>
        </p:txBody>
      </p:sp>
      <p:pic>
        <p:nvPicPr>
          <p:cNvPr id="31" name="图片 3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4959737" y="20951489"/>
            <a:ext cx="5272216" cy="3147190"/>
          </a:xfrm>
          <a:prstGeom prst="rect">
            <a:avLst/>
          </a:prstGeom>
        </p:spPr>
      </p:pic>
      <p:sp>
        <p:nvSpPr>
          <p:cNvPr id="40" name="文本框 39"/>
          <p:cNvSpPr txBox="1"/>
          <p:nvPr/>
        </p:nvSpPr>
        <p:spPr>
          <a:xfrm>
            <a:off x="16340308" y="24237213"/>
            <a:ext cx="4184542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GB" altLang="zh-CN" sz="1200" b="1" i="1" dirty="0">
                <a:solidFill>
                  <a:srgbClr val="340A5E"/>
                </a:solidFill>
              </a:rPr>
              <a:t>Fig</a:t>
            </a:r>
            <a:r>
              <a:rPr kumimoji="1" lang="zh-CN" altLang="en-US" sz="1200" b="1" i="1" dirty="0">
                <a:solidFill>
                  <a:srgbClr val="340A5E"/>
                </a:solidFill>
              </a:rPr>
              <a:t> </a:t>
            </a:r>
            <a:r>
              <a:rPr kumimoji="1" lang="en-US" altLang="zh-CN" sz="1200" b="1" i="1" dirty="0">
                <a:solidFill>
                  <a:srgbClr val="340A5E"/>
                </a:solidFill>
              </a:rPr>
              <a:t>12.</a:t>
            </a:r>
            <a:r>
              <a:rPr kumimoji="1" lang="zh-CN" altLang="en-US" sz="1200" b="1" i="1" dirty="0">
                <a:solidFill>
                  <a:srgbClr val="340A5E"/>
                </a:solidFill>
              </a:rPr>
              <a:t> </a:t>
            </a:r>
            <a:r>
              <a:rPr kumimoji="1" lang="en-GB" altLang="zh-CN" sz="1200" b="1" i="1" dirty="0">
                <a:solidFill>
                  <a:srgbClr val="340A5E"/>
                </a:solidFill>
              </a:rPr>
              <a:t>Users</a:t>
            </a:r>
            <a:r>
              <a:rPr kumimoji="1" lang="en-US" altLang="zh-CN" sz="1200" b="1" i="1" dirty="0">
                <a:solidFill>
                  <a:srgbClr val="340A5E"/>
                </a:solidFill>
              </a:rPr>
              <a:t>‘ optimization suggestions</a:t>
            </a:r>
          </a:p>
        </p:txBody>
      </p:sp>
      <p:sp>
        <p:nvSpPr>
          <p:cNvPr id="42" name="文本框 41"/>
          <p:cNvSpPr txBox="1"/>
          <p:nvPr/>
        </p:nvSpPr>
        <p:spPr>
          <a:xfrm>
            <a:off x="14315371" y="24457744"/>
            <a:ext cx="6886243" cy="1599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GB" altLang="zh-CN" sz="1400" dirty="0">
                <a:solidFill>
                  <a:srgbClr val="340A5E"/>
                </a:solidFill>
              </a:rPr>
              <a:t>Figure </a:t>
            </a:r>
            <a:r>
              <a:rPr lang="en-US" altLang="zh-CN" sz="1400" dirty="0">
                <a:solidFill>
                  <a:srgbClr val="340A5E"/>
                </a:solidFill>
              </a:rPr>
              <a:t>11</a:t>
            </a:r>
            <a:r>
              <a:rPr lang="en-GB" altLang="zh-CN" sz="1400" dirty="0">
                <a:solidFill>
                  <a:srgbClr val="340A5E"/>
                </a:solidFill>
              </a:rPr>
              <a:t> presents a </a:t>
            </a:r>
            <a:r>
              <a:rPr lang="en-GB" altLang="zh-CN" sz="1400" b="1" dirty="0">
                <a:solidFill>
                  <a:srgbClr val="340A5E"/>
                </a:solidFill>
              </a:rPr>
              <a:t>word cloud summarizing key themes</a:t>
            </a:r>
            <a:r>
              <a:rPr lang="en-GB" altLang="zh-CN" sz="1400" dirty="0">
                <a:solidFill>
                  <a:srgbClr val="340A5E"/>
                </a:solidFill>
              </a:rPr>
              <a:t> extracted from </a:t>
            </a:r>
            <a:r>
              <a:rPr lang="en-GB" altLang="zh-CN" sz="1400" b="1" dirty="0">
                <a:solidFill>
                  <a:srgbClr val="340A5E"/>
                </a:solidFill>
              </a:rPr>
              <a:t>users’ feedback</a:t>
            </a:r>
            <a:r>
              <a:rPr lang="en-GB" altLang="zh-CN" sz="1400" dirty="0">
                <a:solidFill>
                  <a:srgbClr val="340A5E"/>
                </a:solidFill>
              </a:rPr>
              <a:t> after interacting with the system. Notably, </a:t>
            </a:r>
            <a:r>
              <a:rPr lang="en-GB" altLang="zh-CN" sz="1400" b="1" dirty="0">
                <a:solidFill>
                  <a:srgbClr val="340A5E"/>
                </a:solidFill>
              </a:rPr>
              <a:t>“Stamp Collection”</a:t>
            </a:r>
            <a:r>
              <a:rPr lang="en-GB" altLang="zh-CN" sz="1400" dirty="0">
                <a:solidFill>
                  <a:srgbClr val="340A5E"/>
                </a:solidFill>
              </a:rPr>
              <a:t> and </a:t>
            </a:r>
            <a:r>
              <a:rPr lang="en-GB" altLang="zh-CN" sz="1400" b="1" dirty="0">
                <a:solidFill>
                  <a:srgbClr val="340A5E"/>
                </a:solidFill>
              </a:rPr>
              <a:t>“AR”</a:t>
            </a:r>
            <a:r>
              <a:rPr lang="en-GB" altLang="zh-CN" sz="1400" dirty="0">
                <a:solidFill>
                  <a:srgbClr val="340A5E"/>
                </a:solidFill>
              </a:rPr>
              <a:t> appear most frequently, highlighting their importance to users. Figure 1</a:t>
            </a:r>
            <a:r>
              <a:rPr lang="en-US" altLang="zh-CN" sz="1400" dirty="0">
                <a:solidFill>
                  <a:srgbClr val="340A5E"/>
                </a:solidFill>
              </a:rPr>
              <a:t>2</a:t>
            </a:r>
            <a:r>
              <a:rPr lang="en-GB" altLang="zh-CN" sz="1400" dirty="0">
                <a:solidFill>
                  <a:srgbClr val="340A5E"/>
                </a:solidFill>
              </a:rPr>
              <a:t> illustrates </a:t>
            </a:r>
            <a:r>
              <a:rPr lang="en-GB" altLang="zh-CN" sz="1400" b="1" dirty="0">
                <a:solidFill>
                  <a:srgbClr val="340A5E"/>
                </a:solidFill>
              </a:rPr>
              <a:t>optimization suggestions</a:t>
            </a:r>
            <a:r>
              <a:rPr lang="en-GB" altLang="zh-CN" sz="1400" dirty="0">
                <a:solidFill>
                  <a:srgbClr val="340A5E"/>
                </a:solidFill>
              </a:rPr>
              <a:t> provided by participants, where enhancing </a:t>
            </a:r>
            <a:r>
              <a:rPr lang="en-GB" altLang="zh-CN" sz="1400" b="1" dirty="0">
                <a:solidFill>
                  <a:srgbClr val="340A5E"/>
                </a:solidFill>
              </a:rPr>
              <a:t>interactivity (</a:t>
            </a:r>
            <a:r>
              <a:rPr lang="en-GB" altLang="zh-CN" sz="1400" b="1" i="1" dirty="0">
                <a:solidFill>
                  <a:srgbClr val="340A5E"/>
                </a:solidFill>
              </a:rPr>
              <a:t>74.51%</a:t>
            </a:r>
            <a:r>
              <a:rPr lang="en-GB" altLang="zh-CN" sz="1400" b="1" dirty="0">
                <a:solidFill>
                  <a:srgbClr val="340A5E"/>
                </a:solidFill>
              </a:rPr>
              <a:t>)</a:t>
            </a:r>
            <a:r>
              <a:rPr lang="en-GB" altLang="zh-CN" sz="1400" dirty="0">
                <a:solidFill>
                  <a:srgbClr val="340A5E"/>
                </a:solidFill>
              </a:rPr>
              <a:t> and </a:t>
            </a:r>
            <a:r>
              <a:rPr lang="en-GB" altLang="zh-CN" sz="1400" b="1" dirty="0">
                <a:solidFill>
                  <a:srgbClr val="340A5E"/>
                </a:solidFill>
              </a:rPr>
              <a:t>enriching explanation content (</a:t>
            </a:r>
            <a:r>
              <a:rPr lang="en-GB" altLang="zh-CN" sz="1400" b="1" i="1" dirty="0">
                <a:solidFill>
                  <a:srgbClr val="340A5E"/>
                </a:solidFill>
              </a:rPr>
              <a:t>64.71%</a:t>
            </a:r>
            <a:r>
              <a:rPr lang="en-GB" altLang="zh-CN" sz="1400" b="1" dirty="0">
                <a:solidFill>
                  <a:srgbClr val="340A5E"/>
                </a:solidFill>
              </a:rPr>
              <a:t>)</a:t>
            </a:r>
            <a:r>
              <a:rPr lang="en-GB" altLang="zh-CN" sz="1400" dirty="0">
                <a:solidFill>
                  <a:srgbClr val="340A5E"/>
                </a:solidFill>
              </a:rPr>
              <a:t> emerge as the most prominent.</a:t>
            </a:r>
          </a:p>
          <a:p>
            <a:pPr algn="just"/>
            <a:endParaRPr lang="en-GB" altLang="zh-CN" sz="1400" dirty="0">
              <a:solidFill>
                <a:srgbClr val="340A5E"/>
              </a:solidFill>
            </a:endParaRPr>
          </a:p>
        </p:txBody>
      </p:sp>
      <p:pic>
        <p:nvPicPr>
          <p:cNvPr id="46" name="图片 45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249967" y="20043680"/>
            <a:ext cx="5504839" cy="4193893"/>
          </a:xfrm>
          <a:prstGeom prst="rect">
            <a:avLst/>
          </a:prstGeom>
        </p:spPr>
      </p:pic>
      <p:sp>
        <p:nvSpPr>
          <p:cNvPr id="53" name="文本框 52"/>
          <p:cNvSpPr txBox="1"/>
          <p:nvPr/>
        </p:nvSpPr>
        <p:spPr>
          <a:xfrm>
            <a:off x="9711062" y="24276484"/>
            <a:ext cx="4184542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GB" altLang="zh-CN" sz="1200" b="1" i="1" dirty="0">
                <a:solidFill>
                  <a:srgbClr val="340A5E"/>
                </a:solidFill>
              </a:rPr>
              <a:t>Fig</a:t>
            </a:r>
            <a:r>
              <a:rPr kumimoji="1" lang="zh-CN" altLang="en-US" sz="1200" b="1" i="1" dirty="0">
                <a:solidFill>
                  <a:srgbClr val="340A5E"/>
                </a:solidFill>
              </a:rPr>
              <a:t> </a:t>
            </a:r>
            <a:r>
              <a:rPr kumimoji="1" lang="en-US" altLang="zh-CN" sz="1200" b="1" i="1" dirty="0">
                <a:solidFill>
                  <a:srgbClr val="340A5E"/>
                </a:solidFill>
              </a:rPr>
              <a:t>10.</a:t>
            </a:r>
            <a:r>
              <a:rPr kumimoji="1" lang="zh-CN" altLang="en-US" sz="1200" b="1" i="1" dirty="0">
                <a:solidFill>
                  <a:srgbClr val="340A5E"/>
                </a:solidFill>
              </a:rPr>
              <a:t> </a:t>
            </a:r>
            <a:r>
              <a:rPr kumimoji="1" lang="en-GB" altLang="zh-CN" sz="1200" b="1" i="1" dirty="0">
                <a:solidFill>
                  <a:srgbClr val="340A5E"/>
                </a:solidFill>
              </a:rPr>
              <a:t>Usability Performance Metric</a:t>
            </a:r>
          </a:p>
        </p:txBody>
      </p:sp>
      <p:sp>
        <p:nvSpPr>
          <p:cNvPr id="54" name="文本框 53"/>
          <p:cNvSpPr txBox="1"/>
          <p:nvPr/>
        </p:nvSpPr>
        <p:spPr>
          <a:xfrm>
            <a:off x="7945752" y="24457403"/>
            <a:ext cx="6112640" cy="1383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GB" altLang="zh-CN" sz="1400" dirty="0">
                <a:solidFill>
                  <a:srgbClr val="340A5E"/>
                </a:solidFill>
              </a:rPr>
              <a:t>As shown in Figure </a:t>
            </a:r>
            <a:r>
              <a:rPr lang="en-US" altLang="zh-CN" sz="1400" dirty="0">
                <a:solidFill>
                  <a:srgbClr val="340A5E"/>
                </a:solidFill>
              </a:rPr>
              <a:t>10</a:t>
            </a:r>
            <a:r>
              <a:rPr lang="en-GB" altLang="zh-CN" sz="1400" dirty="0">
                <a:solidFill>
                  <a:srgbClr val="340A5E"/>
                </a:solidFill>
              </a:rPr>
              <a:t>, </a:t>
            </a:r>
            <a:r>
              <a:rPr lang="en-GB" altLang="zh-CN" sz="1400" b="1" dirty="0">
                <a:solidFill>
                  <a:srgbClr val="340A5E"/>
                </a:solidFill>
              </a:rPr>
              <a:t>Prototype A</a:t>
            </a:r>
            <a:r>
              <a:rPr lang="en-GB" altLang="zh-CN" sz="1400" dirty="0">
                <a:solidFill>
                  <a:srgbClr val="340A5E"/>
                </a:solidFill>
              </a:rPr>
              <a:t> achieves</a:t>
            </a:r>
            <a:r>
              <a:rPr lang="en-GB" altLang="zh-CN" sz="1400" b="1" dirty="0">
                <a:solidFill>
                  <a:srgbClr val="340A5E"/>
                </a:solidFill>
              </a:rPr>
              <a:t> higher scores</a:t>
            </a:r>
            <a:r>
              <a:rPr lang="en-GB" altLang="zh-CN" sz="1400" dirty="0">
                <a:solidFill>
                  <a:srgbClr val="340A5E"/>
                </a:solidFill>
              </a:rPr>
              <a:t> in </a:t>
            </a:r>
            <a:r>
              <a:rPr lang="en-GB" altLang="zh-CN" sz="1400" b="1" dirty="0">
                <a:solidFill>
                  <a:srgbClr val="340A5E"/>
                </a:solidFill>
              </a:rPr>
              <a:t>task completion time, error rate, and user effort</a:t>
            </a:r>
            <a:r>
              <a:rPr lang="en-GB" altLang="zh-CN" sz="1400" dirty="0">
                <a:solidFill>
                  <a:srgbClr val="340A5E"/>
                </a:solidFill>
              </a:rPr>
              <a:t>. However, </a:t>
            </a:r>
            <a:r>
              <a:rPr lang="en-GB" altLang="zh-CN" sz="1400" b="1" dirty="0">
                <a:solidFill>
                  <a:srgbClr val="340A5E"/>
                </a:solidFill>
              </a:rPr>
              <a:t>Prototype B</a:t>
            </a:r>
            <a:r>
              <a:rPr lang="en-GB" altLang="zh-CN" sz="1400" dirty="0">
                <a:solidFill>
                  <a:srgbClr val="340A5E"/>
                </a:solidFill>
              </a:rPr>
              <a:t> performs better in </a:t>
            </a:r>
            <a:r>
              <a:rPr lang="en-GB" altLang="zh-CN" sz="1400" b="1" dirty="0">
                <a:solidFill>
                  <a:srgbClr val="340A5E"/>
                </a:solidFill>
              </a:rPr>
              <a:t>engagement and enjoyment</a:t>
            </a:r>
            <a:r>
              <a:rPr lang="en-GB" altLang="zh-CN" sz="1400" dirty="0">
                <a:solidFill>
                  <a:srgbClr val="340A5E"/>
                </a:solidFill>
              </a:rPr>
              <a:t>, which are key factors in the </a:t>
            </a:r>
            <a:r>
              <a:rPr lang="en-GB" altLang="zh-CN" sz="1400" b="1" dirty="0">
                <a:solidFill>
                  <a:srgbClr val="340A5E"/>
                </a:solidFill>
              </a:rPr>
              <a:t>user requirements</a:t>
            </a:r>
            <a:r>
              <a:rPr lang="en-GB" altLang="zh-CN" sz="1400" dirty="0">
                <a:solidFill>
                  <a:srgbClr val="340A5E"/>
                </a:solidFill>
              </a:rPr>
              <a:t>. Therefore, despite its drawbacks, </a:t>
            </a:r>
            <a:r>
              <a:rPr lang="en-GB" altLang="zh-CN" sz="1400" b="1" dirty="0">
                <a:solidFill>
                  <a:srgbClr val="340A5E"/>
                </a:solidFill>
              </a:rPr>
              <a:t>Prototype B provides greater overall value to the user experience</a:t>
            </a:r>
            <a:r>
              <a:rPr lang="en-GB" altLang="zh-CN" sz="1400" dirty="0">
                <a:solidFill>
                  <a:srgbClr val="340A5E"/>
                </a:solidFill>
              </a:rPr>
              <a:t>. As a result, Prototype B is selected as the final design.</a:t>
            </a:r>
          </a:p>
        </p:txBody>
      </p:sp>
      <p:sp>
        <p:nvSpPr>
          <p:cNvPr id="60" name="文本框 59"/>
          <p:cNvSpPr txBox="1"/>
          <p:nvPr/>
        </p:nvSpPr>
        <p:spPr>
          <a:xfrm>
            <a:off x="8026400" y="17718405"/>
            <a:ext cx="586930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altLang="zh-CN" dirty="0">
                <a:solidFill>
                  <a:srgbClr val="340A5E"/>
                </a:solidFill>
              </a:rPr>
              <a:t>In the evaluation, we invited </a:t>
            </a:r>
            <a:r>
              <a:rPr lang="en-GB" altLang="zh-CN" b="1" dirty="0">
                <a:solidFill>
                  <a:srgbClr val="340A5E"/>
                </a:solidFill>
              </a:rPr>
              <a:t>10 participants </a:t>
            </a:r>
            <a:r>
              <a:rPr lang="en-GB" altLang="zh-CN" dirty="0">
                <a:solidFill>
                  <a:srgbClr val="340A5E"/>
                </a:solidFill>
              </a:rPr>
              <a:t>to use and experience our product.</a:t>
            </a:r>
            <a:endParaRPr kumimoji="1" lang="en-GB" altLang="zh-CN" dirty="0">
              <a:solidFill>
                <a:srgbClr val="340A5E"/>
              </a:solidFill>
            </a:endParaRPr>
          </a:p>
        </p:txBody>
      </p:sp>
      <p:pic>
        <p:nvPicPr>
          <p:cNvPr id="44" name="图片 43" descr="图形用户界面, 文本, 应用程序&#10;&#10;AI 生成的内容可能不正确。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449" y="18006577"/>
            <a:ext cx="7772400" cy="2376368"/>
          </a:xfrm>
          <a:prstGeom prst="rect">
            <a:avLst/>
          </a:prstGeom>
        </p:spPr>
      </p:pic>
      <p:pic>
        <p:nvPicPr>
          <p:cNvPr id="61" name="图片 60" descr="图形用户界面, 文本, 应用程序&#10;&#10;AI 生成的内容可能不正确。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345" y="20092670"/>
            <a:ext cx="7772400" cy="2336800"/>
          </a:xfrm>
          <a:prstGeom prst="rect">
            <a:avLst/>
          </a:prstGeom>
        </p:spPr>
      </p:pic>
      <p:sp>
        <p:nvSpPr>
          <p:cNvPr id="282312" name="文本框 282311"/>
          <p:cNvSpPr txBox="1"/>
          <p:nvPr/>
        </p:nvSpPr>
        <p:spPr>
          <a:xfrm>
            <a:off x="12663170" y="10439400"/>
            <a:ext cx="577913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GB" altLang="zh-CN" sz="1200" b="1" i="1" dirty="0">
                <a:solidFill>
                  <a:srgbClr val="340A5E"/>
                </a:solidFill>
              </a:rPr>
              <a:t>Fig</a:t>
            </a:r>
            <a:r>
              <a:rPr kumimoji="1" lang="zh-CN" altLang="en-US" sz="1200" b="1" i="1" dirty="0">
                <a:solidFill>
                  <a:srgbClr val="340A5E"/>
                </a:solidFill>
              </a:rPr>
              <a:t> </a:t>
            </a:r>
            <a:r>
              <a:rPr kumimoji="1" lang="en-US" altLang="zh-CN" sz="1200" b="1" i="1" dirty="0">
                <a:solidFill>
                  <a:srgbClr val="340A5E"/>
                </a:solidFill>
              </a:rPr>
              <a:t>8.</a:t>
            </a:r>
            <a:r>
              <a:rPr kumimoji="1" lang="zh-CN" altLang="en-US" sz="1200" b="1" i="1" dirty="0">
                <a:solidFill>
                  <a:srgbClr val="340A5E"/>
                </a:solidFill>
              </a:rPr>
              <a:t> </a:t>
            </a:r>
            <a:r>
              <a:rPr kumimoji="1" lang="en-US" altLang="zh-CN" sz="1200" b="1" i="1" dirty="0">
                <a:solidFill>
                  <a:srgbClr val="340A5E"/>
                </a:solidFill>
              </a:rPr>
              <a:t>Iterations of </a:t>
            </a:r>
            <a:r>
              <a:rPr kumimoji="1" lang="en-GB" altLang="zh-CN" sz="1200" b="1" i="1" dirty="0">
                <a:solidFill>
                  <a:srgbClr val="340A5E"/>
                </a:solidFill>
              </a:rPr>
              <a:t>app prototype UI design</a:t>
            </a:r>
          </a:p>
          <a:p>
            <a:endParaRPr kumimoji="1" lang="en-GB" altLang="zh-CN" sz="1200" b="1" i="1" dirty="0">
              <a:solidFill>
                <a:srgbClr val="340A5E"/>
              </a:solidFill>
            </a:endParaRPr>
          </a:p>
        </p:txBody>
      </p:sp>
      <p:sp>
        <p:nvSpPr>
          <p:cNvPr id="282313" name="文本框 282312"/>
          <p:cNvSpPr txBox="1"/>
          <p:nvPr/>
        </p:nvSpPr>
        <p:spPr>
          <a:xfrm>
            <a:off x="13488656" y="15099972"/>
            <a:ext cx="4184542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GB" altLang="zh-CN" sz="1200" b="1" i="1" dirty="0">
                <a:solidFill>
                  <a:srgbClr val="340A5E"/>
                </a:solidFill>
              </a:rPr>
              <a:t>Fig</a:t>
            </a:r>
            <a:r>
              <a:rPr kumimoji="1" lang="zh-CN" altLang="en-US" sz="1200" b="1" i="1" dirty="0">
                <a:solidFill>
                  <a:srgbClr val="340A5E"/>
                </a:solidFill>
              </a:rPr>
              <a:t> </a:t>
            </a:r>
            <a:r>
              <a:rPr kumimoji="1" lang="en-US" altLang="zh-CN" sz="1200" b="1" i="1" dirty="0">
                <a:solidFill>
                  <a:srgbClr val="340A5E"/>
                </a:solidFill>
              </a:rPr>
              <a:t>9.</a:t>
            </a:r>
            <a:r>
              <a:rPr kumimoji="1" lang="zh-CN" altLang="en-US" sz="1200" b="1" i="1" dirty="0">
                <a:solidFill>
                  <a:srgbClr val="340A5E"/>
                </a:solidFill>
              </a:rPr>
              <a:t> </a:t>
            </a:r>
            <a:r>
              <a:rPr kumimoji="1" lang="en-US" altLang="zh-CN" sz="1200" b="1" i="1" dirty="0">
                <a:solidFill>
                  <a:srgbClr val="340A5E"/>
                </a:solidFill>
              </a:rPr>
              <a:t>System Architecture</a:t>
            </a:r>
          </a:p>
        </p:txBody>
      </p:sp>
      <p:pic>
        <p:nvPicPr>
          <p:cNvPr id="13" name="图片 12" descr="图形用户界面, 应用程序&#10;&#10;AI 生成的内容可能不正确。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42" t="10382" r="4803" b="17206"/>
          <a:stretch>
            <a:fillRect/>
          </a:stretch>
        </p:blipFill>
        <p:spPr>
          <a:xfrm>
            <a:off x="285574" y="23041974"/>
            <a:ext cx="7352840" cy="6924660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192237" y="10681495"/>
            <a:ext cx="12465259" cy="4483030"/>
          </a:xfrm>
          <a:prstGeom prst="rect">
            <a:avLst/>
          </a:prstGeom>
        </p:spPr>
      </p:pic>
      <p:sp>
        <p:nvSpPr>
          <p:cNvPr id="19" name="object 119"/>
          <p:cNvSpPr txBox="1"/>
          <p:nvPr/>
        </p:nvSpPr>
        <p:spPr>
          <a:xfrm>
            <a:off x="4229375" y="1788457"/>
            <a:ext cx="14308921" cy="712022"/>
          </a:xfrm>
          <a:prstGeom prst="rect">
            <a:avLst/>
          </a:prstGeom>
          <a:solidFill>
            <a:srgbClr val="8571AA"/>
          </a:solidFill>
        </p:spPr>
        <p:txBody>
          <a:bodyPr vert="horz" wrap="square" lIns="0" tIns="213016" rIns="0" bIns="0" rtlCol="0">
            <a:noAutofit/>
          </a:bodyPr>
          <a:lstStyle/>
          <a:p>
            <a:pPr marL="17780" indent="0" algn="ctr" fontAlgn="auto">
              <a:lnSpc>
                <a:spcPct val="90000"/>
              </a:lnSpc>
              <a:spcBef>
                <a:spcPts val="200"/>
              </a:spcBef>
            </a:pPr>
            <a:r>
              <a:rPr lang="en-US" altLang="zh-CN" sz="2545" b="1" i="1" spc="-21" dirty="0">
                <a:solidFill>
                  <a:schemeClr val="bg1"/>
                </a:solidFill>
                <a:latin typeface="Times New Roman Bold Italic" panose="02020603050405020304" charset="0"/>
                <a:cs typeface="Times New Roman Bold Italic" panose="02020603050405020304" charset="0"/>
              </a:rPr>
              <a:t>Group B3-2  </a:t>
            </a:r>
            <a:r>
              <a:rPr lang="en-US" altLang="zh-CN" sz="2545" b="1" i="1" spc="-21" dirty="0" err="1">
                <a:solidFill>
                  <a:schemeClr val="bg1"/>
                </a:solidFill>
                <a:latin typeface="Times New Roman Bold Italic" panose="02020603050405020304" charset="0"/>
                <a:cs typeface="Times New Roman Bold Italic" panose="02020603050405020304" charset="0"/>
              </a:rPr>
              <a:t>Lei.Zhang</a:t>
            </a:r>
            <a:r>
              <a:rPr lang="en-US" altLang="zh-CN" sz="2545" b="1" i="1" spc="-21" dirty="0">
                <a:solidFill>
                  <a:schemeClr val="bg1"/>
                </a:solidFill>
                <a:latin typeface="Times New Roman Bold Italic" panose="02020603050405020304" charset="0"/>
                <a:cs typeface="Times New Roman Bold Italic" panose="02020603050405020304" charset="0"/>
              </a:rPr>
              <a:t>(2361007)  </a:t>
            </a:r>
            <a:r>
              <a:rPr lang="en-US" altLang="zh-CN" sz="2545" b="1" i="1" spc="-21" dirty="0" err="1">
                <a:solidFill>
                  <a:schemeClr val="bg1"/>
                </a:solidFill>
                <a:latin typeface="Times New Roman Bold Italic" panose="02020603050405020304" charset="0"/>
                <a:cs typeface="Times New Roman Bold Italic" panose="02020603050405020304" charset="0"/>
              </a:rPr>
              <a:t>Hanyan.Niu</a:t>
            </a:r>
            <a:r>
              <a:rPr lang="en-US" altLang="zh-CN" sz="2545" b="1" i="1" spc="-21" dirty="0">
                <a:solidFill>
                  <a:schemeClr val="bg1"/>
                </a:solidFill>
                <a:latin typeface="Times New Roman Bold Italic" panose="02020603050405020304" charset="0"/>
                <a:cs typeface="Times New Roman Bold Italic" panose="02020603050405020304" charset="0"/>
              </a:rPr>
              <a:t>(2362278) </a:t>
            </a:r>
            <a:r>
              <a:rPr lang="en-US" altLang="zh-CN" sz="2545" b="1" i="1" spc="-21" dirty="0" err="1">
                <a:solidFill>
                  <a:schemeClr val="bg1"/>
                </a:solidFill>
                <a:latin typeface="Times New Roman Bold Italic" panose="02020603050405020304" charset="0"/>
                <a:cs typeface="Times New Roman Bold Italic" panose="02020603050405020304" charset="0"/>
              </a:rPr>
              <a:t>Yiduo.Guo</a:t>
            </a:r>
            <a:r>
              <a:rPr lang="en-US" altLang="zh-CN" sz="2545" b="1" i="1" spc="-21" dirty="0">
                <a:solidFill>
                  <a:schemeClr val="bg1"/>
                </a:solidFill>
                <a:latin typeface="Times New Roman Bold Italic" panose="02020603050405020304" charset="0"/>
                <a:cs typeface="Times New Roman Bold Italic" panose="02020603050405020304" charset="0"/>
              </a:rPr>
              <a:t>(2360180)  </a:t>
            </a:r>
            <a:r>
              <a:rPr lang="en-US" altLang="zh-CN" sz="2545" b="1" i="1" spc="-21" dirty="0" err="1">
                <a:solidFill>
                  <a:schemeClr val="bg1"/>
                </a:solidFill>
                <a:latin typeface="Times New Roman Bold Italic" panose="02020603050405020304" charset="0"/>
                <a:cs typeface="Times New Roman Bold Italic" panose="02020603050405020304" charset="0"/>
              </a:rPr>
              <a:t>Qi.Cao</a:t>
            </a:r>
            <a:r>
              <a:rPr lang="en-US" altLang="zh-CN" sz="2545" b="1" i="1" spc="-21" dirty="0">
                <a:solidFill>
                  <a:schemeClr val="bg1"/>
                </a:solidFill>
                <a:latin typeface="Times New Roman Bold Italic" panose="02020603050405020304" charset="0"/>
                <a:cs typeface="Times New Roman Bold Italic" panose="02020603050405020304" charset="0"/>
              </a:rPr>
              <a:t>(2360908)</a:t>
            </a:r>
            <a:endParaRPr lang="en-US" altLang="zh-CN" sz="1985" b="1" i="1" spc="-21" dirty="0">
              <a:solidFill>
                <a:schemeClr val="bg1"/>
              </a:solidFill>
              <a:latin typeface="Times New Roman Bold Italic" panose="02020603050405020304" charset="0"/>
              <a:cs typeface="Times New Roman Bold Italic" panose="02020603050405020304" charset="0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8107719" y="15262849"/>
            <a:ext cx="12508376" cy="1291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GB" altLang="zh-CN" sz="1400" dirty="0">
                <a:solidFill>
                  <a:srgbClr val="340A5E"/>
                </a:solidFill>
              </a:rPr>
              <a:t>Figure 8 illustrates the iterative design process of the</a:t>
            </a:r>
            <a:r>
              <a:rPr lang="en-GB" altLang="zh-CN" b="1" i="1" dirty="0">
                <a:solidFill>
                  <a:srgbClr val="340A5E"/>
                </a:solidFill>
              </a:rPr>
              <a:t> app prototype UI</a:t>
            </a:r>
            <a:r>
              <a:rPr lang="en-GB" altLang="zh-CN" sz="1400" dirty="0">
                <a:solidFill>
                  <a:srgbClr val="340A5E"/>
                </a:solidFill>
              </a:rPr>
              <a:t>. We first developed a basic version of the system and then progressively added more features and a more </a:t>
            </a:r>
            <a:r>
              <a:rPr lang="en-GB" altLang="zh-CN" sz="1400" b="1" dirty="0">
                <a:solidFill>
                  <a:srgbClr val="340A5E"/>
                </a:solidFill>
              </a:rPr>
              <a:t>visually appealing interface</a:t>
            </a:r>
            <a:r>
              <a:rPr lang="en-GB" altLang="zh-CN" sz="1400" dirty="0">
                <a:solidFill>
                  <a:srgbClr val="340A5E"/>
                </a:solidFill>
              </a:rPr>
              <a:t>.</a:t>
            </a:r>
            <a:r>
              <a:rPr lang="zh-CN" altLang="en-US" sz="1400" dirty="0">
                <a:solidFill>
                  <a:srgbClr val="340A5E"/>
                </a:solidFill>
              </a:rPr>
              <a:t> </a:t>
            </a:r>
            <a:r>
              <a:rPr lang="en-GB" altLang="zh-CN" sz="1400" dirty="0">
                <a:solidFill>
                  <a:srgbClr val="340A5E"/>
                </a:solidFill>
              </a:rPr>
              <a:t>Figure 9 shows the </a:t>
            </a:r>
            <a:r>
              <a:rPr lang="en-GB" altLang="zh-CN" b="1" i="1" dirty="0">
                <a:solidFill>
                  <a:srgbClr val="340A5E"/>
                </a:solidFill>
              </a:rPr>
              <a:t>system workflow</a:t>
            </a:r>
            <a:r>
              <a:rPr lang="en-GB" altLang="zh-CN" sz="1400" dirty="0">
                <a:solidFill>
                  <a:srgbClr val="340A5E"/>
                </a:solidFill>
              </a:rPr>
              <a:t>, illustrating how user interactions move through </a:t>
            </a:r>
            <a:r>
              <a:rPr lang="en-GB" altLang="zh-CN" sz="1400" b="1" dirty="0">
                <a:solidFill>
                  <a:srgbClr val="340A5E"/>
                </a:solidFill>
              </a:rPr>
              <a:t>core modules, supporting services, and data storage</a:t>
            </a:r>
            <a:r>
              <a:rPr lang="en-GB" altLang="zh-CN" sz="1400" dirty="0">
                <a:solidFill>
                  <a:srgbClr val="340A5E"/>
                </a:solidFill>
              </a:rPr>
              <a:t>.</a:t>
            </a:r>
          </a:p>
          <a:p>
            <a:pPr algn="just"/>
            <a:endParaRPr lang="en-GB" altLang="zh-CN" sz="1400" dirty="0">
              <a:solidFill>
                <a:srgbClr val="340A5E"/>
              </a:solidFill>
            </a:endParaRPr>
          </a:p>
          <a:p>
            <a:endParaRPr lang="en-GB" altLang="zh-CN" sz="1400" dirty="0">
              <a:solidFill>
                <a:srgbClr val="340A5E"/>
              </a:solidFill>
            </a:endParaRPr>
          </a:p>
        </p:txBody>
      </p:sp>
      <p:pic>
        <p:nvPicPr>
          <p:cNvPr id="49" name="图片 48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59105" y="6567170"/>
            <a:ext cx="3070225" cy="3089910"/>
          </a:xfrm>
          <a:prstGeom prst="rect">
            <a:avLst/>
          </a:prstGeom>
        </p:spPr>
      </p:pic>
      <p:pic>
        <p:nvPicPr>
          <p:cNvPr id="63" name="图片 62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191635" y="6579870"/>
            <a:ext cx="2675255" cy="3089910"/>
          </a:xfrm>
          <a:prstGeom prst="rect">
            <a:avLst/>
          </a:prstGeom>
        </p:spPr>
      </p:pic>
      <p:sp>
        <p:nvSpPr>
          <p:cNvPr id="64" name="圆角矩形 63"/>
          <p:cNvSpPr/>
          <p:nvPr/>
        </p:nvSpPr>
        <p:spPr>
          <a:xfrm>
            <a:off x="7902104" y="26854785"/>
            <a:ext cx="6446520" cy="1598930"/>
          </a:xfrm>
          <a:prstGeom prst="roundRect">
            <a:avLst/>
          </a:prstGeom>
          <a:solidFill>
            <a:srgbClr val="F0E5FC"/>
          </a:solidFill>
          <a:ln w="38100">
            <a:solidFill>
              <a:srgbClr val="DDB9F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GB" altLang="zh-CN" b="1" i="1" dirty="0">
                <a:solidFill>
                  <a:srgbClr val="340A5E"/>
                </a:solidFill>
                <a:sym typeface="+mn-ea"/>
              </a:rPr>
              <a:t>Limitations</a:t>
            </a:r>
            <a:br>
              <a:rPr lang="en-GB" altLang="zh-CN" dirty="0">
                <a:solidFill>
                  <a:srgbClr val="340A5E"/>
                </a:solidFill>
                <a:sym typeface="+mn-ea"/>
              </a:rPr>
            </a:br>
            <a:r>
              <a:rPr lang="en-GB" altLang="zh-CN" sz="1400" dirty="0">
                <a:solidFill>
                  <a:srgbClr val="340A5E"/>
                </a:solidFill>
                <a:sym typeface="+mn-ea"/>
              </a:rPr>
              <a:t>◆ The AR system is still at </a:t>
            </a:r>
            <a:r>
              <a:rPr lang="en-GB" altLang="zh-CN" sz="1400" b="1" dirty="0">
                <a:solidFill>
                  <a:srgbClr val="340A5E"/>
                </a:solidFill>
                <a:sym typeface="+mn-ea"/>
              </a:rPr>
              <a:t>a preliminary stage</a:t>
            </a:r>
            <a:r>
              <a:rPr lang="en-GB" altLang="zh-CN" sz="1400" dirty="0">
                <a:solidFill>
                  <a:srgbClr val="340A5E"/>
                </a:solidFill>
                <a:sym typeface="+mn-ea"/>
              </a:rPr>
              <a:t>, with limited positioning accuracy and delays in the scan-and-collect-stamp function.</a:t>
            </a:r>
            <a:br>
              <a:rPr lang="en-GB" altLang="zh-CN" sz="1400" dirty="0">
                <a:solidFill>
                  <a:srgbClr val="340A5E"/>
                </a:solidFill>
                <a:sym typeface="+mn-ea"/>
              </a:rPr>
            </a:br>
            <a:r>
              <a:rPr lang="en-GB" altLang="zh-CN" sz="1400" dirty="0">
                <a:solidFill>
                  <a:srgbClr val="340A5E"/>
                </a:solidFill>
                <a:sym typeface="+mn-ea"/>
              </a:rPr>
              <a:t>◆ The current prototype covers </a:t>
            </a:r>
            <a:r>
              <a:rPr lang="en-GB" altLang="zh-CN" sz="1400" b="1" dirty="0">
                <a:solidFill>
                  <a:srgbClr val="340A5E"/>
                </a:solidFill>
                <a:sym typeface="+mn-ea"/>
              </a:rPr>
              <a:t>only three campus buildings</a:t>
            </a:r>
            <a:r>
              <a:rPr lang="en-GB" altLang="zh-CN" sz="1400" dirty="0">
                <a:solidFill>
                  <a:srgbClr val="340A5E"/>
                </a:solidFill>
                <a:sym typeface="+mn-ea"/>
              </a:rPr>
              <a:t>, which limits the scope and completeness of the experience.</a:t>
            </a:r>
            <a:br>
              <a:rPr lang="en-GB" altLang="zh-CN" sz="1400" dirty="0">
                <a:solidFill>
                  <a:srgbClr val="340A5E"/>
                </a:solidFill>
                <a:sym typeface="+mn-ea"/>
              </a:rPr>
            </a:br>
            <a:r>
              <a:rPr lang="en-GB" altLang="zh-CN" sz="1400" dirty="0">
                <a:solidFill>
                  <a:srgbClr val="340A5E"/>
                </a:solidFill>
                <a:sym typeface="+mn-ea"/>
              </a:rPr>
              <a:t>◆ The current evaluation is </a:t>
            </a:r>
            <a:r>
              <a:rPr lang="en-GB" altLang="zh-CN" sz="1400" b="1" dirty="0">
                <a:solidFill>
                  <a:srgbClr val="340A5E"/>
                </a:solidFill>
                <a:sym typeface="+mn-ea"/>
              </a:rPr>
              <a:t>based on a limited number of participants</a:t>
            </a:r>
            <a:r>
              <a:rPr lang="en-GB" altLang="zh-CN" sz="1400" dirty="0">
                <a:solidFill>
                  <a:srgbClr val="340A5E"/>
                </a:solidFill>
                <a:sym typeface="+mn-ea"/>
              </a:rPr>
              <a:t>, so broader user testing is still needed.</a:t>
            </a:r>
          </a:p>
        </p:txBody>
      </p:sp>
      <p:sp>
        <p:nvSpPr>
          <p:cNvPr id="65" name="圆角矩形 64"/>
          <p:cNvSpPr/>
          <p:nvPr/>
        </p:nvSpPr>
        <p:spPr>
          <a:xfrm>
            <a:off x="14514830" y="26871295"/>
            <a:ext cx="6625590" cy="1565275"/>
          </a:xfrm>
          <a:prstGeom prst="roundRect">
            <a:avLst/>
          </a:prstGeom>
          <a:solidFill>
            <a:srgbClr val="F0E5FC"/>
          </a:solidFill>
          <a:ln w="38100">
            <a:solidFill>
              <a:srgbClr val="DDB9F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GB" altLang="zh-CN" b="1" i="1" dirty="0">
                <a:solidFill>
                  <a:srgbClr val="340A5E"/>
                </a:solidFill>
                <a:sym typeface="+mn-ea"/>
              </a:rPr>
              <a:t>Future Work</a:t>
            </a:r>
            <a:br>
              <a:rPr lang="en-GB" altLang="zh-CN" sz="1400" dirty="0">
                <a:solidFill>
                  <a:srgbClr val="340A5E"/>
                </a:solidFill>
                <a:sym typeface="+mn-ea"/>
              </a:rPr>
            </a:br>
            <a:r>
              <a:rPr lang="en-GB" altLang="zh-CN" sz="1400" dirty="0">
                <a:solidFill>
                  <a:srgbClr val="340A5E"/>
                </a:solidFill>
                <a:sym typeface="+mn-ea"/>
              </a:rPr>
              <a:t>◆ Expand the system to </a:t>
            </a:r>
            <a:r>
              <a:rPr lang="en-GB" altLang="zh-CN" sz="1400" b="1" dirty="0">
                <a:solidFill>
                  <a:srgbClr val="340A5E"/>
                </a:solidFill>
                <a:sym typeface="+mn-ea"/>
              </a:rPr>
              <a:t>cover more campus buildings and functional areas</a:t>
            </a:r>
            <a:r>
              <a:rPr lang="en-GB" altLang="zh-CN" sz="1400" dirty="0">
                <a:solidFill>
                  <a:srgbClr val="340A5E"/>
                </a:solidFill>
                <a:sym typeface="+mn-ea"/>
              </a:rPr>
              <a:t>.</a:t>
            </a:r>
            <a:br>
              <a:rPr lang="en-GB" altLang="zh-CN" sz="1400" dirty="0">
                <a:solidFill>
                  <a:srgbClr val="340A5E"/>
                </a:solidFill>
                <a:sym typeface="+mn-ea"/>
              </a:rPr>
            </a:br>
            <a:r>
              <a:rPr lang="en-GB" altLang="zh-CN" sz="1400" dirty="0">
                <a:solidFill>
                  <a:srgbClr val="340A5E"/>
                </a:solidFill>
                <a:sym typeface="+mn-ea"/>
              </a:rPr>
              <a:t>◆ </a:t>
            </a:r>
            <a:r>
              <a:rPr lang="en-GB" altLang="zh-CN" sz="1400" b="1" dirty="0">
                <a:solidFill>
                  <a:srgbClr val="340A5E"/>
                </a:solidFill>
                <a:sym typeface="+mn-ea"/>
              </a:rPr>
              <a:t>Improve the underlying technology</a:t>
            </a:r>
            <a:r>
              <a:rPr lang="en-GB" altLang="zh-CN" sz="1400" dirty="0">
                <a:solidFill>
                  <a:srgbClr val="340A5E"/>
                </a:solidFill>
                <a:sym typeface="+mn-ea"/>
              </a:rPr>
              <a:t> to enhance </a:t>
            </a:r>
            <a:r>
              <a:rPr lang="en-GB" altLang="zh-CN" sz="1400" b="1" dirty="0">
                <a:solidFill>
                  <a:srgbClr val="340A5E"/>
                </a:solidFill>
                <a:sym typeface="+mn-ea"/>
              </a:rPr>
              <a:t>positioning accuracy and reduce response delays</a:t>
            </a:r>
            <a:r>
              <a:rPr lang="en-GB" altLang="zh-CN" sz="1400" dirty="0">
                <a:solidFill>
                  <a:srgbClr val="340A5E"/>
                </a:solidFill>
                <a:sym typeface="+mn-ea"/>
              </a:rPr>
              <a:t>.</a:t>
            </a:r>
            <a:br>
              <a:rPr lang="en-GB" altLang="zh-CN" sz="1400" dirty="0">
                <a:solidFill>
                  <a:srgbClr val="340A5E"/>
                </a:solidFill>
                <a:sym typeface="+mn-ea"/>
              </a:rPr>
            </a:br>
            <a:r>
              <a:rPr lang="en-GB" altLang="zh-CN" sz="1400" dirty="0">
                <a:solidFill>
                  <a:srgbClr val="340A5E"/>
                </a:solidFill>
                <a:sym typeface="+mn-ea"/>
              </a:rPr>
              <a:t>◆ </a:t>
            </a:r>
            <a:r>
              <a:rPr lang="en-GB" altLang="zh-CN" sz="1400" b="1" dirty="0">
                <a:solidFill>
                  <a:srgbClr val="340A5E"/>
                </a:solidFill>
                <a:sym typeface="+mn-ea"/>
              </a:rPr>
              <a:t>Conduct broader testing</a:t>
            </a:r>
            <a:r>
              <a:rPr lang="en-GB" altLang="zh-CN" sz="1400" dirty="0">
                <a:solidFill>
                  <a:srgbClr val="340A5E"/>
                </a:solidFill>
                <a:sym typeface="+mn-ea"/>
              </a:rPr>
              <a:t> with </a:t>
            </a:r>
            <a:r>
              <a:rPr lang="en-GB" altLang="zh-CN" sz="1400" b="1" dirty="0">
                <a:solidFill>
                  <a:srgbClr val="340A5E"/>
                </a:solidFill>
                <a:sym typeface="+mn-ea"/>
              </a:rPr>
              <a:t>different user groups</a:t>
            </a:r>
            <a:r>
              <a:rPr lang="en-GB" altLang="zh-CN" sz="1400" dirty="0">
                <a:solidFill>
                  <a:srgbClr val="340A5E"/>
                </a:solidFill>
                <a:sym typeface="+mn-ea"/>
              </a:rPr>
              <a:t> to further refine interaction design and content delivery.</a:t>
            </a:r>
          </a:p>
        </p:txBody>
      </p:sp>
      <p:sp>
        <p:nvSpPr>
          <p:cNvPr id="67" name="圆角矩形 66"/>
          <p:cNvSpPr/>
          <p:nvPr/>
        </p:nvSpPr>
        <p:spPr>
          <a:xfrm>
            <a:off x="9129395" y="16100425"/>
            <a:ext cx="10464800" cy="975360"/>
          </a:xfrm>
          <a:prstGeom prst="roundRect">
            <a:avLst/>
          </a:prstGeom>
          <a:solidFill>
            <a:srgbClr val="F0E5FC"/>
          </a:solidFill>
          <a:ln w="38100">
            <a:solidFill>
              <a:srgbClr val="DDB9F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GB" altLang="zh-CN" sz="1400" dirty="0">
                <a:solidFill>
                  <a:srgbClr val="340A5E"/>
                </a:solidFill>
                <a:sym typeface="+mn-ea"/>
              </a:rPr>
              <a:t>To balance low-friction navigation with playful interaction, we explored </a:t>
            </a:r>
            <a:r>
              <a:rPr lang="en-GB" altLang="zh-CN" sz="1400" b="1" dirty="0">
                <a:solidFill>
                  <a:srgbClr val="340A5E"/>
                </a:solidFill>
                <a:sym typeface="+mn-ea"/>
              </a:rPr>
              <a:t>two alternative stamp collection mechanisms</a:t>
            </a:r>
            <a:r>
              <a:rPr lang="en-GB" altLang="zh-CN" sz="1400" dirty="0">
                <a:solidFill>
                  <a:srgbClr val="340A5E"/>
                </a:solidFill>
                <a:sym typeface="+mn-ea"/>
              </a:rPr>
              <a:t>:</a:t>
            </a:r>
            <a:br>
              <a:rPr lang="en-GB" altLang="zh-CN" sz="1400" dirty="0">
                <a:solidFill>
                  <a:srgbClr val="340A5E"/>
                </a:solidFill>
                <a:sym typeface="+mn-ea"/>
              </a:rPr>
            </a:br>
            <a:r>
              <a:rPr lang="en-GB" altLang="zh-CN" sz="1400" dirty="0">
                <a:solidFill>
                  <a:srgbClr val="340A5E"/>
                </a:solidFill>
                <a:sym typeface="+mn-ea"/>
              </a:rPr>
              <a:t>(1) an automatic location-based trigger, focusing on efficiency</a:t>
            </a:r>
            <a:r>
              <a:rPr lang="en-US" altLang="zh-CN" sz="1400" dirty="0">
                <a:solidFill>
                  <a:srgbClr val="340A5E"/>
                </a:solidFill>
                <a:sym typeface="+mn-ea"/>
              </a:rPr>
              <a:t>.</a:t>
            </a:r>
            <a:br>
              <a:rPr lang="en-GB" altLang="zh-CN" sz="1400" dirty="0">
                <a:solidFill>
                  <a:srgbClr val="340A5E"/>
                </a:solidFill>
                <a:sym typeface="+mn-ea"/>
              </a:rPr>
            </a:br>
            <a:r>
              <a:rPr lang="en-GB" altLang="zh-CN" sz="1400" dirty="0">
                <a:solidFill>
                  <a:srgbClr val="340A5E"/>
                </a:solidFill>
                <a:sym typeface="+mn-ea"/>
              </a:rPr>
              <a:t>(2) a manual AR scanning interaction, emphasizing user engagement.</a:t>
            </a:r>
            <a:endParaRPr lang="en-GB" altLang="zh-CN" sz="1400" dirty="0">
              <a:solidFill>
                <a:srgbClr val="340A5E"/>
              </a:solidFill>
            </a:endParaRPr>
          </a:p>
          <a:p>
            <a:pPr algn="l"/>
            <a:r>
              <a:rPr lang="en-GB" altLang="zh-CN" sz="1400" dirty="0">
                <a:solidFill>
                  <a:srgbClr val="340A5E"/>
                </a:solidFill>
                <a:sym typeface="+mn-ea"/>
              </a:rPr>
              <a:t>This design dilemma informed the </a:t>
            </a:r>
            <a:r>
              <a:rPr lang="en-GB" altLang="zh-CN" sz="1400" b="1" dirty="0">
                <a:solidFill>
                  <a:srgbClr val="340A5E"/>
                </a:solidFill>
                <a:sym typeface="+mn-ea"/>
              </a:rPr>
              <a:t>development of two prototype variants</a:t>
            </a:r>
            <a:r>
              <a:rPr lang="en-GB" altLang="zh-CN" sz="1400" dirty="0">
                <a:solidFill>
                  <a:srgbClr val="340A5E"/>
                </a:solidFill>
                <a:sym typeface="+mn-ea"/>
              </a:rPr>
              <a:t>, which were later evaluated through user testing.</a:t>
            </a:r>
          </a:p>
        </p:txBody>
      </p:sp>
      <p:sp>
        <p:nvSpPr>
          <p:cNvPr id="69" name="文本框 68"/>
          <p:cNvSpPr txBox="1"/>
          <p:nvPr/>
        </p:nvSpPr>
        <p:spPr>
          <a:xfrm>
            <a:off x="2418620" y="3109932"/>
            <a:ext cx="640080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400" dirty="0"/>
              <a:t>✨</a:t>
            </a:r>
          </a:p>
        </p:txBody>
      </p:sp>
      <p:sp>
        <p:nvSpPr>
          <p:cNvPr id="70" name="文本框 69"/>
          <p:cNvSpPr txBox="1"/>
          <p:nvPr/>
        </p:nvSpPr>
        <p:spPr>
          <a:xfrm>
            <a:off x="11566874" y="3107055"/>
            <a:ext cx="741680" cy="7683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4400" dirty="0"/>
              <a:t>🎨</a:t>
            </a:r>
          </a:p>
        </p:txBody>
      </p:sp>
      <p:sp>
        <p:nvSpPr>
          <p:cNvPr id="71" name="文本框 70"/>
          <p:cNvSpPr txBox="1"/>
          <p:nvPr/>
        </p:nvSpPr>
        <p:spPr>
          <a:xfrm>
            <a:off x="11742871" y="17148175"/>
            <a:ext cx="741680" cy="7683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4400" dirty="0"/>
              <a:t>📊</a:t>
            </a:r>
          </a:p>
        </p:txBody>
      </p:sp>
      <p:sp>
        <p:nvSpPr>
          <p:cNvPr id="73" name="文本框 72"/>
          <p:cNvSpPr txBox="1"/>
          <p:nvPr/>
        </p:nvSpPr>
        <p:spPr>
          <a:xfrm>
            <a:off x="12291521" y="25717922"/>
            <a:ext cx="741680" cy="7683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4400" dirty="0"/>
              <a:t>🎯</a:t>
            </a:r>
          </a:p>
        </p:txBody>
      </p:sp>
      <p:sp>
        <p:nvSpPr>
          <p:cNvPr id="74" name="文本框 73"/>
          <p:cNvSpPr txBox="1"/>
          <p:nvPr/>
        </p:nvSpPr>
        <p:spPr>
          <a:xfrm>
            <a:off x="11185088" y="28475651"/>
            <a:ext cx="741680" cy="7683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4400" dirty="0"/>
              <a:t>📚</a:t>
            </a:r>
          </a:p>
        </p:txBody>
      </p:sp>
      <p:sp>
        <p:nvSpPr>
          <p:cNvPr id="75" name="文本框 74"/>
          <p:cNvSpPr txBox="1"/>
          <p:nvPr/>
        </p:nvSpPr>
        <p:spPr>
          <a:xfrm>
            <a:off x="8191949" y="16298259"/>
            <a:ext cx="741680" cy="7683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4400" dirty="0"/>
              <a:t>📝</a:t>
            </a:r>
          </a:p>
        </p:txBody>
      </p:sp>
      <p:sp>
        <p:nvSpPr>
          <p:cNvPr id="76" name="文本框 75"/>
          <p:cNvSpPr txBox="1"/>
          <p:nvPr/>
        </p:nvSpPr>
        <p:spPr>
          <a:xfrm>
            <a:off x="1286510" y="5937395"/>
            <a:ext cx="741680" cy="7683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4400" dirty="0"/>
              <a:t>🔍</a:t>
            </a:r>
          </a:p>
        </p:txBody>
      </p:sp>
      <p:pic>
        <p:nvPicPr>
          <p:cNvPr id="11" name="图片 10" descr="QR 代码&#10;&#10;AI 生成的内容可能不正确。"/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47470" y="1177398"/>
            <a:ext cx="1111387" cy="1111387"/>
          </a:xfrm>
          <a:prstGeom prst="rect">
            <a:avLst/>
          </a:prstGeom>
        </p:spPr>
      </p:pic>
      <p:pic>
        <p:nvPicPr>
          <p:cNvPr id="25" name="图片 24" descr="QR 代码&#10;&#10;AI 生成的内容可能不正确。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18577" y="1184768"/>
            <a:ext cx="1111388" cy="1111388"/>
          </a:xfrm>
          <a:prstGeom prst="rect">
            <a:avLst/>
          </a:prstGeom>
        </p:spPr>
      </p:pic>
      <p:sp>
        <p:nvSpPr>
          <p:cNvPr id="30" name="文本框 29"/>
          <p:cNvSpPr txBox="1"/>
          <p:nvPr/>
        </p:nvSpPr>
        <p:spPr>
          <a:xfrm>
            <a:off x="18618612" y="2288785"/>
            <a:ext cx="11113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>
                <a:solidFill>
                  <a:schemeClr val="bg1"/>
                </a:solidFill>
              </a:rPr>
              <a:t>Portfolio</a:t>
            </a:r>
            <a:endParaRPr kumimoji="1" lang="zh-CN" altLang="en-US" dirty="0">
              <a:solidFill>
                <a:schemeClr val="bg1"/>
              </a:solidFill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20146863" y="2300551"/>
            <a:ext cx="11113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>
                <a:solidFill>
                  <a:schemeClr val="bg1"/>
                </a:solidFill>
              </a:rPr>
              <a:t>Demo</a:t>
            </a:r>
            <a:endParaRPr kumimoji="1" lang="zh-CN" alt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alibri">
      <a:majorFont>
        <a:latin typeface="Calibri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">
      <a:dk1>
        <a:srgbClr val="000000"/>
      </a:dk1>
      <a:lt1>
        <a:srgbClr val="FFFFFF"/>
      </a:lt1>
      <a:dk2>
        <a:srgbClr val="F9F9F9"/>
      </a:dk2>
      <a:lt2>
        <a:srgbClr val="FFFFFF"/>
      </a:lt2>
      <a:accent1>
        <a:srgbClr val="137E89"/>
      </a:accent1>
      <a:accent2>
        <a:srgbClr val="084C61"/>
      </a:accent2>
      <a:accent3>
        <a:srgbClr val="DB3A33"/>
      </a:accent3>
      <a:accent4>
        <a:srgbClr val="F7B62F"/>
      </a:accent4>
      <a:accent5>
        <a:srgbClr val="66595F"/>
      </a:accent5>
      <a:accent6>
        <a:srgbClr val="57AEC9"/>
      </a:accent6>
      <a:hlink>
        <a:srgbClr val="304FFE"/>
      </a:hlink>
      <a:folHlink>
        <a:srgbClr val="492067"/>
      </a:folHlink>
    </a:clrScheme>
    <a:fontScheme name="Calibri">
      <a:majorFont>
        <a:latin typeface="Calibri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宋体"/>
        <a:ea typeface=""/>
        <a:cs typeface=""/>
        <a:font script="Jpan" typeface="游ゴシック Light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宋体"/>
        <a:ea typeface="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1129</Words>
  <Application>Microsoft Macintosh PowerPoint</Application>
  <PresentationFormat>自定义</PresentationFormat>
  <Paragraphs>62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</vt:i4>
      </vt:variant>
    </vt:vector>
  </HeadingPairs>
  <TitlesOfParts>
    <vt:vector size="12" baseType="lpstr">
      <vt:lpstr>-apple-system</vt:lpstr>
      <vt:lpstr>宋体</vt:lpstr>
      <vt:lpstr>Times New Roman Bold</vt:lpstr>
      <vt:lpstr>Times New Roman Bold Italic</vt:lpstr>
      <vt:lpstr>Arial</vt:lpstr>
      <vt:lpstr>Calibri</vt:lpstr>
      <vt:lpstr>Tahoma</vt:lpstr>
      <vt:lpstr>Times New Roman</vt:lpstr>
      <vt:lpstr>Wingdings</vt:lpstr>
      <vt:lpstr>Office 主题​​</vt:lpstr>
      <vt:lpstr>1_Office 主题​​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t31829</cp:lastModifiedBy>
  <cp:revision>501</cp:revision>
  <dcterms:created xsi:type="dcterms:W3CDTF">2026-04-23T07:25:30Z</dcterms:created>
  <dcterms:modified xsi:type="dcterms:W3CDTF">2026-04-23T08:53:50Z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2052-5.5.1.7991</vt:lpwstr>
  </property>
  <property fmtid="{D5CDD505-2E9C-101B-9397-08002B2CF9AE}" pid="3" name="ICV">
    <vt:lpwstr>46D8433030B5A9EB69C9E9692A865977_43</vt:lpwstr>
  </property>
</Properties>
</file>